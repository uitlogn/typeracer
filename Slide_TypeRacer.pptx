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2000"/>
  <p:notesSz cx="6858000" cy="9144000"/>
  <p:embeddedFontLst>
    <p:embeddedFont>
      <p:font typeface="Inter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ED81EC-E3F3-4FEC-BC38-E9F9206542DA}">
  <a:tblStyle styleId="{0DED81EC-E3F3-4FEC-BC38-E9F9206542D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20" Type="http://schemas.openxmlformats.org/officeDocument/2006/relationships/slide" Target="slides/slide14.xml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Urbanis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Inter-bold.fntdata"/><Relationship Id="rId14" Type="http://schemas.openxmlformats.org/officeDocument/2006/relationships/slide" Target="slides/slide8.xml"/><Relationship Id="rId36" Type="http://schemas.openxmlformats.org/officeDocument/2006/relationships/font" Target="fonts/Inter-regular.fntdata"/><Relationship Id="rId17" Type="http://schemas.openxmlformats.org/officeDocument/2006/relationships/slide" Target="slides/slide11.xml"/><Relationship Id="rId39" Type="http://schemas.openxmlformats.org/officeDocument/2006/relationships/font" Target="fonts/Inter-boldItalic.fntdata"/><Relationship Id="rId16" Type="http://schemas.openxmlformats.org/officeDocument/2006/relationships/slide" Target="slides/slide10.xml"/><Relationship Id="rId38" Type="http://schemas.openxmlformats.org/officeDocument/2006/relationships/font" Target="fonts/Inter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document/d/17R8kLIth44-JgdWp_MSD8tDJ-47vueqxkflndKPp3nk/edit?usp=sharing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https://docs.google.com/document/d/17R8kLIth44-JgdWp_MSD8tDJ-47vueqxkflndKPp3nk/edit?usp=sharing</a:t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"vi"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TypeRacer - Network Programming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"preconnect"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"https://fonts.googleapis.com"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"preconnect"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"https://fonts.gstatic.com"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crossorigin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"https://fonts.googleapis.com/css2?family=Urbanist:wght@400;500;700&amp;display=swap"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"https://cdnjs.cloudflare.com/ajax/libs/font-awesome/6.5.1/css/all.min.css"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1. THE SETUP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box-sizing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#020617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Very dark slate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place-items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flex-start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#0f172a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Slate 900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1.1 BACKGROUND DECORATION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.slide-container::before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-20%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-10%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.slide-container::after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-20%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-10%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2. CONSISTENT TYPOGRAPHY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#f8fafc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Sky 400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.subtitle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#bae6fd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Sky 200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Font Sizes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.subtitle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#94a3b8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Slate 400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3. LAYOUT DEFINITIONS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.content-area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flex-grow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.title-layout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align-self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.two-column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.two-column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list-style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padding-left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li::before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\f0da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FontAwesome play icon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'Font Awesome 6 Free'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900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block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Bleed Image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minmax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.content-container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img.bleed-image-side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Tiled Content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.tiled-content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16px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.icon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Lighter text for tiles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Table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border-collapse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collapse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#e2e8f0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163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184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19px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tr:last-child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#818cf8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Rounded Image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.rounded-image-layout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.rounded-image-layout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flex-shrink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Q&amp;A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align-self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90px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Architecture Diagram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.arch-diagram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#f8fafc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min-width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#818cf8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#e2e8f0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#94a3b8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.arch-arrow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.arch-arrow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13px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#0f172a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#334155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Slide 3.5: Detailed Architecture Diagram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"slide-container"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"slide-arch"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"slide-title"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"text-align: center;"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Kiến trúc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Hệ thống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Chi tiết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"content-area"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"arch-diagram"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Clients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fa-desktop"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Client 1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WinForms App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"border: 2px dashed #475569; background: transparent; box-shadow: none; min-width: 100px;"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fa-ellipsis"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#475569; margin-bottom: 0;"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fa-laptop"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Client 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WinForms App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fa-arrow-down"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TCP Raw Socket (Custom Header Protocol)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Proxy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#f59e0b; width: 450px;"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fa-network-wired"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#f59e0b;"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L4 TCP Load Balancer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Thuật toán: Round-Robin &amp; Least-Connections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fa-arrows-split-up-and-left"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Điều hướng Traffic (Phân tải)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Server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fa-server"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Game Server 1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C# .NET (Async/Await)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fa-server"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Game Server 2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C# .NET (Async/Await)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fa-arrow-down"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Data Access Layer (Repository Pattern)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Database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#ef4444;"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fa-database"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#ef4444;"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SQL Server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Dữ liệu Relational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#14b8a6;"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fa-leaf"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#14b8a6;"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MongoDB Atlas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Cloud NoSQL (Realtime Logging)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2" name="Google Shape;22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eb09ffc325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eb09ffc32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DOCTYPE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lang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"vi"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charset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"UTF-8"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meta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"viewport"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"width=device-width, initial-scale=1.0"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TypeRacer - Network Programming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title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"preconnect"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"https://fonts.googleapis.com"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"preconnect"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"https://fonts.gstatic.com"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crossorigin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"https://fonts.googleapis.com/css2?family=Urbanist:wght@400;500;700&amp;display=swap"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link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"stylesheet"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href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"https://cdnjs.cloudflare.com/ajax/libs/font-awesome/6.5.1/css/all.min.css"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1. THE SETUP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box-sizing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#020617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Very dark slate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100vh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place-items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flex-start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#0f172a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Slate 900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1.1 BACKGROUND DECORATION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.slide-container::before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-20%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-10%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.slide-container::after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-20%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-10%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2. CONSISTENT TYPOGRAPHY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#f8fafc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Sky 400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.subtitle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#bae6fd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Sky 200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'Urbanist'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sans-serif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Font Sizes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line-height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.subtitle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#94a3b8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Slate 400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3. LAYOUT DEFINITIONS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.content-area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flex-grow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.title-layout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align-self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.two-column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.two-column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ul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list-style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padding-left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.bullet-list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li::before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\f0da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FontAwesome play icon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font-family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'Font Awesome 6 Free'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900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absolute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img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block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Bleed Image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minmax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.content-container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60px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&gt;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.image-container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.slide-container.bleed-image-layout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img.bleed-image-side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object-fit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cover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Tiled Content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.tiled-content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grid-template-columns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repeat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1fr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16px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.icon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80px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.tile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Lighter text for tiles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Table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overflow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hidden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table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border-collapse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collapse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background-color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left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#e2e8f0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163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184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19px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tr:last-child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none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.table-layout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strong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#818cf8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Rounded Image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.rounded-image-layout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.rounded-image-layout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.image-wrapper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flex-shrink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auto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Q&amp;A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align-self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90px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.qa-layout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28px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/* Architecture Diagram Layout */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.arch-diagram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margin-top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justify-content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100%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23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text-align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#f8fafc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box-shadow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CDCAA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rgba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56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189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248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0.2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min-width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position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relative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32px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#818cf8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#e2e8f0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font-weight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.arch-box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margin-bottom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#94a3b8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FF7B72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!important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.arch-arrow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#38bdf8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20px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display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flex-direction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column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align-items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center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gap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5px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.arch-arrow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D7BA7D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font-size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13px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color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#cbd5e1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background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#0f172a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padding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4px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border-radius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12px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border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1px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solid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CE917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#334155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z-index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n-US" sz="1050">
                <a:solidFill>
                  <a:srgbClr val="B5CEA8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}</a:t>
            </a:r>
            <a:endParaRPr sz="1050">
              <a:solidFill>
                <a:srgbClr val="D4D4D4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D4D4D4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head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Slide 3.5: Detailed Architecture Diagram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"slide-container"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"slide-arch"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"slide-title"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"text-align: center;"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Kiến trúc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Hệ thống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Chi tiết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h2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"content-area"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"arch-diagram"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Clients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fa-desktop"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Client 1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WinForms App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"border: 2px dashed #475569; background: transparent; box-shadow: none; min-width: 100px;"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fa-ellipsis"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#475569; margin-bottom: 0;"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fa-laptop"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Client 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WinForms App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fa-arrow-down"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TCP Raw Socket (Custom Header Protocol)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Proxy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#f59e0b; width: 450px;"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fa-network-wired"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#f59e0b;"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L4 TCP Load Balancer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Thuật toán: Round-Robin &amp; Least-Connections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fa-arrows-split-up-and-left"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Điều hướng Traffic (Phân tải)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Server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fa-server"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Game Server 1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C# .NET (Async/Await)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fa-server"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#10b981;"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Game Server 2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C# .NET (Async/Await)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"arch-arrow"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fa-arrow-down"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Data Access Layer (Repository Pattern)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span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</a:t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B949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&lt;!-- Database Layer --&gt;</a:t>
            </a:r>
            <a:endParaRPr sz="1050">
              <a:solidFill>
                <a:srgbClr val="8B949E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"arch-row"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#ef4444;"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fa-database"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#ef4444;"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SQL Server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Dữ liệu Relational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"arch-box"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"border-color: #14b8a6;"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"fa-solid fa-leaf"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rgbClr val="9CDCFE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style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en-US" sz="1050">
                <a:solidFill>
                  <a:srgbClr val="A5D6F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"color: #14b8a6;"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MongoDB Atlas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h4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Cloud NoSQL (Realtime Logging)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BBBEBF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div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BBBEBF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body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en-US" sz="1050">
                <a:solidFill>
                  <a:srgbClr val="7EE787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html</a:t>
            </a:r>
            <a:r>
              <a:rPr lang="en-US" sz="1050">
                <a:solidFill>
                  <a:srgbClr val="808080"/>
                </a:solidFill>
                <a:highlight>
                  <a:srgbClr val="121314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050">
              <a:solidFill>
                <a:srgbClr val="808080"/>
              </a:solidFill>
              <a:highlight>
                <a:srgbClr val="121314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eb09ffc32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3eb09ffc325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10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1" Type="http://schemas.openxmlformats.org/officeDocument/2006/relationships/image" Target="../media/image6.png"/><Relationship Id="rId10" Type="http://schemas.openxmlformats.org/officeDocument/2006/relationships/image" Target="../media/image1.png"/><Relationship Id="rId12" Type="http://schemas.openxmlformats.org/officeDocument/2006/relationships/image" Target="../media/image5.png"/><Relationship Id="rId9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77370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TypeRacer</a:t>
            </a:r>
            <a:r>
              <a:rPr b="1" i="0" lang="en-US" sz="54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18470"/>
            <a:ext cx="110490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Đồ án Lập trình mạng (NT106)</a:t>
            </a:r>
            <a:endParaRPr b="0" i="0" sz="18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Vũ Hoàng Long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Nguyễn Tuấn Hùng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Lê Tuấn Hùng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571500"/>
            <a:ext cx="5238750" cy="55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04875" y="22935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Game đua gõ phím đa người chơi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hoạt động theo thời gian thực dựa trên kiến trúc Client-Server.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904875" y="30936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Sử dụng </a:t>
            </a: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TCP Socket thuần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, đảm bảo tốc độ truyền tải cao và độ trễ thấp.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904875" y="38937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Đầy đủ tính năng thực tế: Đăng ký/Đăng nhập, Tạo/Tìm phòng, Chat, Leaderboard và Lịch sử đấu.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04875" y="46938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Kiến trúc phần mềm tối ưu, đáp ứng đầy đủ tiêu chí logic và ứng dụng mượt mà.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Tổng quan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Dự án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26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27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28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29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5956" y="977825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6306" y="11761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6170754" y="1958976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4374" y="977825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4724" y="117610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809172" y="1958976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3718" y="2614563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4068" y="2812846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168516" y="3595714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Join room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6943" y="3003346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4374" y="2655900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4724" y="28541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809172" y="3637051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Quick play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1481" y="4251300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51831" y="44495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6166279" y="5232451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History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4706" y="464008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2136" y="4256100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2486" y="44543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7806934" y="5237251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Ranking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2" name="Google Shape;12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465" y="980413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66815" y="1178697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9481263" y="1961564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Create room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5" name="Google Shape;12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6465" y="2658488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66815" y="28567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4"/>
          <p:cNvSpPr txBox="1"/>
          <p:nvPr/>
        </p:nvSpPr>
        <p:spPr>
          <a:xfrm>
            <a:off x="9481263" y="3639639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Chat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04227" y="4258688"/>
            <a:ext cx="1478225" cy="14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64577" y="4456972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4"/>
          <p:cNvSpPr txBox="1"/>
          <p:nvPr/>
        </p:nvSpPr>
        <p:spPr>
          <a:xfrm>
            <a:off x="9479025" y="5239839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2100" u="none" cap="none" strike="noStrike">
              <a:solidFill>
                <a:srgbClr val="F8FA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40088" y="136663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799825" y="135179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52839" y="4647484"/>
            <a:ext cx="381000" cy="381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" name="Google Shape;134;p14"/>
          <p:cNvGrpSpPr/>
          <p:nvPr/>
        </p:nvGrpSpPr>
        <p:grpSpPr>
          <a:xfrm>
            <a:off x="8822050" y="4643175"/>
            <a:ext cx="327500" cy="383010"/>
            <a:chOff x="8822050" y="4643175"/>
            <a:chExt cx="327500" cy="383010"/>
          </a:xfrm>
        </p:grpSpPr>
        <p:sp>
          <p:nvSpPr>
            <p:cNvPr id="135" name="Google Shape;135;p14"/>
            <p:cNvSpPr/>
            <p:nvPr/>
          </p:nvSpPr>
          <p:spPr>
            <a:xfrm>
              <a:off x="8822050" y="4643175"/>
              <a:ext cx="95400" cy="381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8939250" y="4701202"/>
              <a:ext cx="95400" cy="3231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14"/>
            <p:cNvSpPr/>
            <p:nvPr/>
          </p:nvSpPr>
          <p:spPr>
            <a:xfrm>
              <a:off x="9054150" y="4751985"/>
              <a:ext cx="95400" cy="2742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8" name="Google Shape;138;p14"/>
          <p:cNvGrpSpPr/>
          <p:nvPr/>
        </p:nvGrpSpPr>
        <p:grpSpPr>
          <a:xfrm>
            <a:off x="10456379" y="3071600"/>
            <a:ext cx="380946" cy="334815"/>
            <a:chOff x="10456379" y="3071600"/>
            <a:chExt cx="380946" cy="334815"/>
          </a:xfrm>
        </p:grpSpPr>
        <p:sp>
          <p:nvSpPr>
            <p:cNvPr id="139" name="Google Shape;139;p14"/>
            <p:cNvSpPr/>
            <p:nvPr/>
          </p:nvSpPr>
          <p:spPr>
            <a:xfrm rot="5400000">
              <a:off x="10608725" y="2921300"/>
              <a:ext cx="78300" cy="3789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3"/>
                <a:buFont typeface="Arial"/>
                <a:buNone/>
              </a:pPr>
              <a:r>
                <a:t/>
              </a:r>
              <a:endParaRPr b="0" i="0" sz="13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4"/>
            <p:cNvSpPr/>
            <p:nvPr/>
          </p:nvSpPr>
          <p:spPr>
            <a:xfrm rot="5400000">
              <a:off x="10579798" y="3206615"/>
              <a:ext cx="78300" cy="3213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3"/>
                <a:buFont typeface="Arial"/>
                <a:buNone/>
              </a:pPr>
              <a:r>
                <a:t/>
              </a:r>
              <a:endParaRPr b="0" i="0" sz="13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4"/>
            <p:cNvSpPr/>
            <p:nvPr/>
          </p:nvSpPr>
          <p:spPr>
            <a:xfrm rot="5400000">
              <a:off x="10553579" y="3099778"/>
              <a:ext cx="78300" cy="2727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0950" lIns="90950" spcFirstLastPara="1" rIns="90950" wrap="square" tIns="9095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3"/>
                <a:buFont typeface="Arial"/>
                <a:buNone/>
              </a:pPr>
              <a:r>
                <a:t/>
              </a:r>
              <a:endParaRPr b="0" i="0" sz="139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14"/>
          <p:cNvSpPr/>
          <p:nvPr/>
        </p:nvSpPr>
        <p:spPr>
          <a:xfrm rot="5400000">
            <a:off x="8854783" y="3086170"/>
            <a:ext cx="317700" cy="293400"/>
          </a:xfrm>
          <a:prstGeom prst="triangle">
            <a:avLst>
              <a:gd fmla="val 50000" name="adj"/>
            </a:avLst>
          </a:prstGeom>
          <a:solidFill>
            <a:srgbClr val="38BD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14"/>
          <p:cNvGrpSpPr/>
          <p:nvPr/>
        </p:nvGrpSpPr>
        <p:grpSpPr>
          <a:xfrm>
            <a:off x="10463248" y="1365307"/>
            <a:ext cx="381000" cy="381000"/>
            <a:chOff x="10463248" y="1365307"/>
            <a:chExt cx="381000" cy="381000"/>
          </a:xfrm>
        </p:grpSpPr>
        <p:sp>
          <p:nvSpPr>
            <p:cNvPr id="144" name="Google Shape;144;p14"/>
            <p:cNvSpPr/>
            <p:nvPr/>
          </p:nvSpPr>
          <p:spPr>
            <a:xfrm>
              <a:off x="10600186" y="1365307"/>
              <a:ext cx="95400" cy="381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 rot="5400000">
              <a:off x="10606048" y="1371168"/>
              <a:ext cx="95400" cy="381000"/>
            </a:xfrm>
            <a:prstGeom prst="rect">
              <a:avLst/>
            </a:prstGeom>
            <a:solidFill>
              <a:srgbClr val="38BD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31665"/>
            <a:ext cx="11049000" cy="35242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7" name="Google Shape;157;p16"/>
          <p:cNvGraphicFramePr/>
          <p:nvPr/>
        </p:nvGraphicFramePr>
        <p:xfrm>
          <a:off x="581025" y="21411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{0DED81EC-E3F3-4FEC-BC38-E9F9206542DA}</a:tableStyleId>
              </a:tblPr>
              <a:tblGrid>
                <a:gridCol w="3507275"/>
                <a:gridCol w="7522675"/>
              </a:tblGrid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Tiêu chí Đánh giá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50"/>
                        <a:buFont typeface="Arial"/>
                        <a:buNone/>
                      </a:pPr>
                      <a:r>
                        <a:rPr i="0" lang="en-US" sz="16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Kỹ thuật Triển khai trong Đồ án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I/O (File, Network) &amp; Thread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Giao thức tự định nghĩa (Custom Header). Xử lý Async đa luồng độc lập.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Database &amp; Sign in/up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MongoDB Atlas / SQL. Băm mật khẩu. Quản lý Session Token.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Multi Client / Multi Server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Xử lý hàng trăm luồng kết nối. Kiến trúc hỗ trợ nhiều Game Server.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Load Balancing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Code riêng L4 Proxy, điều phối Round-Robin &amp; Least-Connections.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Demo via LAN/Internet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i="0" lang="en-US" sz="1425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Sẵn sàng triển khai trên VPS (SQL/Mongo) qua Internet.</a:t>
                      </a:r>
                      <a:endParaRPr sz="1400" u="none" cap="none" strike="noStrike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16"/>
          <p:cNvSpPr/>
          <p:nvPr/>
        </p:nvSpPr>
        <p:spPr>
          <a:xfrm>
            <a:off x="581025" y="2769840"/>
            <a:ext cx="3507283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4088308" y="2769840"/>
            <a:ext cx="7522666" cy="190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581025" y="3355627"/>
            <a:ext cx="350728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088308" y="3355627"/>
            <a:ext cx="7522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581025" y="3927127"/>
            <a:ext cx="350728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4088308" y="3927127"/>
            <a:ext cx="7522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581025" y="4498627"/>
            <a:ext cx="350728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4088308" y="4498627"/>
            <a:ext cx="7522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/>
          <p:nvPr/>
        </p:nvSpPr>
        <p:spPr>
          <a:xfrm>
            <a:off x="581025" y="5070127"/>
            <a:ext cx="350728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4088308" y="5070127"/>
            <a:ext cx="752266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Đáp ứng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Tiêu chí</a:t>
            </a: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 Chấm điểm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1259"/>
            <a:ext cx="349240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221259"/>
            <a:ext cx="3492549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221259"/>
            <a:ext cx="3492400" cy="33450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36700" y="256415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7"/>
          <p:cNvSpPr txBox="1"/>
          <p:nvPr/>
        </p:nvSpPr>
        <p:spPr>
          <a:xfrm>
            <a:off x="1151148" y="3516659"/>
            <a:ext cx="233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Giao thức Custom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91900" y="4018133"/>
            <a:ext cx="30516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Thiết kế gói tin chuẩn xác với Header 8-byte (Length, Type, Flags). Khắc phục triệt để lỗi dính gói tin (TCP stream framing) thường gặp.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0" name="Google Shape;18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4851" y="256415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7"/>
          <p:cNvSpPr txBox="1"/>
          <p:nvPr/>
        </p:nvSpPr>
        <p:spPr>
          <a:xfrm>
            <a:off x="4699110" y="3516659"/>
            <a:ext cx="279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Đa luồng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4597300" y="3983384"/>
            <a:ext cx="29973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Mỗi Client được cấp phát một Task xử lý độc lập. UI Client không bị block nhờ cơ chế Async/Await toàn diện. (NetworkStream.ReadAsync)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3" name="Google Shape;18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493150" y="256415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8931845" y="3516659"/>
            <a:ext cx="1884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Đồng bộ State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375600" y="3983384"/>
            <a:ext cx="29970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Sử dụng cơ chế khóa (Lock) luồng an toàn khi nhiều Client thao tác đồng thời vào chung một phòng (Room) hoặc dữ liệu trận đấu.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186" name="Google Shape;186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79575" y="2754659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905351" y="275465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683650" y="2754659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Lõi Kỹ thuật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Tối ưu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293600"/>
            <a:ext cx="5238750" cy="226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904875" y="22935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Tự phát triển một </a:t>
            </a: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L4 TCP Proxy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đứng trước các Game Servers.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904875" y="30936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Điều hướng traffic theo hai thuật toán: </a:t>
            </a: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Round-Robin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và </a:t>
            </a: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Least-Connections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904875" y="38937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Proxy luồng byte thô hai chiều (raw stream) siêu nhẹ, không cần parse protocol game.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904875" y="46938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Tích hợp cơ chế </a:t>
            </a: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Health Check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liên tục ở mức TCP, tự động loại bỏ server chết để đảm bảo High Availability.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571500" y="571500"/>
            <a:ext cx="116014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TCP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Load Balancer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3126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127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128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29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2663" y="2431763"/>
            <a:ext cx="5036926" cy="199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9"/>
          <p:cNvSpPr txBox="1"/>
          <p:nvPr/>
        </p:nvSpPr>
        <p:spPr>
          <a:xfrm>
            <a:off x="6715125" y="2388840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Database linh hoạt: SQL Server + MongoDB Atlas qua repository/provider, có schema, index, seed và migration.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9"/>
          <p:cNvSpPr txBox="1"/>
          <p:nvPr/>
        </p:nvSpPr>
        <p:spPr>
          <a:xfrm>
            <a:off x="6715125" y="349374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Cryptography: PBKDF2-HMAC-SHA256 + salt; payload TCP của client mã hóa AES-256-CBC với IV ngẫu nhiên từng message.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715125" y="4293840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Quản lý phiên: session token random, duplicate login invalidate session cũ; report/export có SHA-256 verification hash.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Lưu trữ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Bảo mật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5" name="Google Shape;21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40789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51279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431289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01750"/>
            <a:ext cx="5238750" cy="336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9083" y="2142121"/>
            <a:ext cx="5143576" cy="312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4" name="Google Shape;22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571500" y="571500"/>
            <a:ext cx="5500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Trợ lý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AI Coach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904875" y="24459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Tiêu chí Sáng tạo: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Tính năng độc đáo giúp dự án ghi điểm phần Tư duy Sáng tạo.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7" name="Google Shape;227;p20"/>
          <p:cNvSpPr txBox="1"/>
          <p:nvPr/>
        </p:nvSpPr>
        <p:spPr>
          <a:xfrm>
            <a:off x="904875" y="324609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Tích hợp OpenClaude gpt-5.5, validate JSON và retry tối đa 5 lần.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904875" y="37413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Phân tích WPM, accuracy và lỗi realtime ở mức ký tự/từ/n-gram ngay sau race.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9" name="Google Shape;229;p20"/>
          <p:cNvSpPr txBox="1"/>
          <p:nvPr/>
        </p:nvSpPr>
        <p:spPr>
          <a:xfrm>
            <a:off x="904875" y="45414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Sinh training pack 10-12 bài, mission chơi ngay; fallback bank 100 bài khi provider lỗi.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650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651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604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5605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32275"/>
            <a:ext cx="5238750" cy="403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75145" t="0"/>
          <a:stretch/>
        </p:blipFill>
        <p:spPr>
          <a:xfrm>
            <a:off x="6548475" y="1588087"/>
            <a:ext cx="4905300" cy="3681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0" name="Google Shape;24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8879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904875" y="2141190"/>
            <a:ext cx="4905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Custom UI: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Giao diện WinForms được code thủ công, tạo Custom Controls cho Track xe đua chạy mượt mà từ 0% - 100%.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904875" y="32460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Trải nghiệm tốt: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Cập nhật giao diện real-time không gây hiện tượng giật lag màn hình (flickering).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904875" y="40461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Đóng gói sẵn sàng:</a:t>
            </a: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 Client được build thành file `.exe` chạy độc lập không cần cài đặt Visual Studio.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904875" y="4846290"/>
            <a:ext cx="4905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AE6FD"/>
                </a:solidFill>
                <a:latin typeface="Inter"/>
                <a:ea typeface="Inter"/>
                <a:cs typeface="Inter"/>
                <a:sym typeface="Inter"/>
              </a:rPr>
              <a:t>Triển khai máy chủ dễ dàng bằng Script tự động trên VPS (Linux/Windows).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Calibri"/>
                <a:ea typeface="Calibri"/>
                <a:cs typeface="Calibri"/>
                <a:sym typeface="Calibri"/>
              </a:rPr>
              <a:t>Giao diện &amp; </a:t>
            </a:r>
            <a:r>
              <a:rPr b="1" i="0" lang="en-US" sz="3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Triển khai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7" name="Google Shape;24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602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51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652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86534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6025" y="2214137"/>
            <a:ext cx="5130201" cy="33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295275" y="2482155"/>
            <a:ext cx="116016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50"/>
              <a:buFont typeface="Arial"/>
              <a:buNone/>
            </a:pPr>
            <a:r>
              <a:rPr b="1" i="0" lang="en-US" sz="675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571500" y="3806130"/>
            <a:ext cx="1104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Thanks!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/>
          <p:nvPr/>
        </p:nvSpPr>
        <p:spPr>
          <a:xfrm>
            <a:off x="0" y="0"/>
            <a:ext cx="12192000" cy="1005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0" y="100584"/>
            <a:ext cx="82200" cy="6757500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4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</a:rPr>
              <a:t>Final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Tất cả tiêu chí</a:t>
            </a:r>
            <a:endParaRPr/>
          </a:p>
        </p:txBody>
      </p:sp>
      <p:sp>
        <p:nvSpPr>
          <p:cNvPr id="274" name="Google Shape;274;p24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11/30</a:t>
            </a:r>
            <a:endParaRPr/>
          </a:p>
        </p:txBody>
      </p:sp>
      <p:sp>
        <p:nvSpPr>
          <p:cNvPr id="275" name="Google Shape;275;p24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731525" y="2050964"/>
            <a:ext cx="2743200" cy="18750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731525" y="2050964"/>
            <a:ext cx="73200" cy="1875000"/>
          </a:xfrm>
          <a:prstGeom prst="rect">
            <a:avLst/>
          </a:prstGeom>
          <a:solidFill>
            <a:srgbClr val="BCC4D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932688" y="2228645"/>
            <a:ext cx="242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Giữa k</a:t>
            </a:r>
            <a:r>
              <a:rPr b="1" lang="en-US" sz="1500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ỳ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932688" y="2683922"/>
            <a:ext cx="239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Tổng quan kiến trúc. </a:t>
            </a: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Demo tính năng nền: login, room, race, chat, leaderboard, socket, load balancer</a:t>
            </a:r>
            <a:r>
              <a:rPr lang="en-US" sz="130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3657611" y="2050964"/>
            <a:ext cx="2743200" cy="18750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3657611" y="2050964"/>
            <a:ext cx="73200" cy="18750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3858773" y="2228645"/>
            <a:ext cx="242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Cuối </a:t>
            </a:r>
            <a:r>
              <a:rPr b="1" lang="en-US" sz="1500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kỳ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3858773" y="2683922"/>
            <a:ext cx="2395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Bổ sung hardening, AI cá nhân hóa, game mode, export, kiểm thử tự động và kịch bản demo theo rubric.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6583698" y="2050964"/>
            <a:ext cx="4480500" cy="18750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6583698" y="2050964"/>
            <a:ext cx="73200" cy="18750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6784858" y="2228645"/>
            <a:ext cx="41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Mục tiêu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6784858" y="2683922"/>
            <a:ext cx="413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Mỗi cải tiến trả lời được: thuộc tiêu chí nào, bằng chứng nằm ở file/script nào, dem</a:t>
            </a:r>
            <a:r>
              <a:rPr lang="en-US" sz="130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o</a:t>
            </a: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8" name="Google Shape;288;p24"/>
          <p:cNvSpPr/>
          <p:nvPr/>
        </p:nvSpPr>
        <p:spPr>
          <a:xfrm rot="5400000">
            <a:off x="1619552" y="97595"/>
            <a:ext cx="38700" cy="1875000"/>
          </a:xfrm>
          <a:prstGeom prst="rect">
            <a:avLst/>
          </a:prstGeom>
          <a:solidFill>
            <a:srgbClr val="BCC4D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5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</a:rPr>
              <a:t>C</a:t>
            </a: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ải tiến theo tiêu chí </a:t>
            </a:r>
            <a:r>
              <a:rPr b="1" lang="en-US" sz="2800">
                <a:solidFill>
                  <a:srgbClr val="F5F7FA"/>
                </a:solidFill>
              </a:rPr>
              <a:t>đánh giá</a:t>
            </a:r>
            <a:endParaRPr/>
          </a:p>
        </p:txBody>
      </p:sp>
      <p:sp>
        <p:nvSpPr>
          <p:cNvPr id="296" name="Google Shape;296;p25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Rubric 100 điểm</a:t>
            </a:r>
            <a:endParaRPr/>
          </a:p>
        </p:txBody>
      </p:sp>
      <p:sp>
        <p:nvSpPr>
          <p:cNvPr id="297" name="Google Shape;297;p25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12/30</a:t>
            </a:r>
            <a:endParaRPr/>
          </a:p>
        </p:txBody>
      </p:sp>
      <p:sp>
        <p:nvSpPr>
          <p:cNvPr id="298" name="Google Shape;298;p25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299" name="Google Shape;299;p25"/>
          <p:cNvSpPr/>
          <p:nvPr/>
        </p:nvSpPr>
        <p:spPr>
          <a:xfrm>
            <a:off x="685800" y="1325880"/>
            <a:ext cx="2697480" cy="16002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685800" y="1325880"/>
            <a:ext cx="73152" cy="16002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886968" y="1472184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Nội dung logic 50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886968" y="1847088"/>
            <a:ext cx="234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protocol + dispatcher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thread/state safety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DB + auth + crypto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multi-client/server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3611880" y="1325880"/>
            <a:ext cx="2697480" cy="16002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3611880" y="1325880"/>
            <a:ext cx="73152" cy="16002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3813048" y="1472184"/>
            <a:ext cx="2377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Giao diện 20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3813048" y="1847088"/>
            <a:ext cx="234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race track + live stats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result/certificate/export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AI panel + practice UX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UI audit guard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6537960" y="1325880"/>
            <a:ext cx="2057400" cy="16002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6537960" y="1325880"/>
            <a:ext cx="73152" cy="16002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5"/>
          <p:cNvSpPr txBox="1"/>
          <p:nvPr/>
        </p:nvSpPr>
        <p:spPr>
          <a:xfrm>
            <a:off x="6739128" y="1472184"/>
            <a:ext cx="1737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Nhóm 20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0" name="Google Shape;310;p25"/>
          <p:cNvSpPr txBox="1"/>
          <p:nvPr/>
        </p:nvSpPr>
        <p:spPr>
          <a:xfrm>
            <a:off x="6739128" y="1847088"/>
            <a:ext cx="17100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chia vai demo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log kiểm thử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file bằng chứng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8823960" y="1325880"/>
            <a:ext cx="2423160" cy="16002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8823960" y="1325880"/>
            <a:ext cx="73152" cy="16002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9025128" y="1472184"/>
            <a:ext cx="2103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Sáng tạo 10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4" name="Google Shape;314;p25"/>
          <p:cNvSpPr txBox="1"/>
          <p:nvPr/>
        </p:nvSpPr>
        <p:spPr>
          <a:xfrm>
            <a:off x="9025128" y="1847088"/>
            <a:ext cx="207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AI Coach thật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game mode mới</a:t>
            </a:r>
            <a:b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1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mission cá nhân hóa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914400" y="3657600"/>
            <a:ext cx="2011680" cy="1143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5"/>
          <p:cNvSpPr txBox="1"/>
          <p:nvPr/>
        </p:nvSpPr>
        <p:spPr>
          <a:xfrm>
            <a:off x="1005840" y="3822191"/>
            <a:ext cx="182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65 OK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1028800" y="4315975"/>
            <a:ext cx="1782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rubric_evidence_audit.py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3246120" y="3657600"/>
            <a:ext cx="2011680" cy="1143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3337560" y="3822191"/>
            <a:ext cx="182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27/27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3383279" y="4315968"/>
            <a:ext cx="1737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unit test core logic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5577840" y="3657600"/>
            <a:ext cx="2011680" cy="1143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5669279" y="3822191"/>
            <a:ext cx="182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10/10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5715000" y="4315968"/>
            <a:ext cx="1737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edge matrix VPS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7909560" y="3657600"/>
            <a:ext cx="2011680" cy="1143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8001000" y="3822191"/>
            <a:ext cx="182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8/8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8046720" y="4315968"/>
            <a:ext cx="17373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race concurrency VPS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6"/>
          <p:cNvSpPr/>
          <p:nvPr/>
        </p:nvSpPr>
        <p:spPr>
          <a:xfrm>
            <a:off x="0" y="0"/>
            <a:ext cx="12192000" cy="1005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0" y="100584"/>
            <a:ext cx="82200" cy="6757500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10744200" y="6355080"/>
            <a:ext cx="9144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14/30</a:t>
            </a:r>
            <a:endParaRPr/>
          </a:p>
        </p:txBody>
      </p:sp>
      <p:sp>
        <p:nvSpPr>
          <p:cNvPr id="334" name="Google Shape;334;p26"/>
          <p:cNvSpPr txBox="1"/>
          <p:nvPr/>
        </p:nvSpPr>
        <p:spPr>
          <a:xfrm>
            <a:off x="594360" y="6355080"/>
            <a:ext cx="47550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pic>
        <p:nvPicPr>
          <p:cNvPr id="335" name="Google Shape;3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2273"/>
            <a:ext cx="12191999" cy="5853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Protocol/socket:</a:t>
            </a:r>
            <a:endParaRPr/>
          </a:p>
        </p:txBody>
      </p:sp>
      <p:sp>
        <p:nvSpPr>
          <p:cNvPr id="343" name="Google Shape;343;p27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App Logic + Socket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14/30</a:t>
            </a:r>
            <a:endParaRPr/>
          </a:p>
        </p:txBody>
      </p:sp>
      <p:sp>
        <p:nvSpPr>
          <p:cNvPr id="345" name="Google Shape;345;p27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346" name="Google Shape;346;p27"/>
          <p:cNvSpPr/>
          <p:nvPr/>
        </p:nvSpPr>
        <p:spPr>
          <a:xfrm>
            <a:off x="731525" y="1234451"/>
            <a:ext cx="33375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731525" y="1234451"/>
            <a:ext cx="73200" cy="12984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 txBox="1"/>
          <p:nvPr/>
        </p:nvSpPr>
        <p:spPr>
          <a:xfrm>
            <a:off x="932693" y="1388320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Framing rõ ràng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7"/>
          <p:cNvSpPr txBox="1"/>
          <p:nvPr/>
        </p:nvSpPr>
        <p:spPr>
          <a:xfrm>
            <a:off x="932693" y="1782609"/>
            <a:ext cx="2990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Header 8 bytes: Length, Type, Flags; tránh dính gói/tách gói của TCP stream.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4434841" y="1234451"/>
            <a:ext cx="33375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4434841" y="1234451"/>
            <a:ext cx="73200" cy="12984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27"/>
          <p:cNvSpPr txBox="1"/>
          <p:nvPr/>
        </p:nvSpPr>
        <p:spPr>
          <a:xfrm>
            <a:off x="4636008" y="1388320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Dispatcher theo nhóm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4636008" y="1782609"/>
            <a:ext cx="299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Auth 100, Room 200, Game 300, Chat 400, Stats 500, System 900.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8138158" y="1234451"/>
            <a:ext cx="27888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8138158" y="1234451"/>
            <a:ext cx="73200" cy="12984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8339326" y="1388320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Guard bảo vệ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27"/>
          <p:cNvSpPr txBox="1"/>
          <p:nvPr/>
        </p:nvSpPr>
        <p:spPr>
          <a:xfrm>
            <a:off x="8339326" y="1782609"/>
            <a:ext cx="244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Protected actions bị chặn khi chưa login hoặc session không hợp lệ.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731525" y="3109730"/>
            <a:ext cx="33375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731525" y="3109730"/>
            <a:ext cx="73200" cy="12984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932693" y="3263599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Encrypted flag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1" name="Google Shape;361;p27"/>
          <p:cNvSpPr txBox="1"/>
          <p:nvPr/>
        </p:nvSpPr>
        <p:spPr>
          <a:xfrm>
            <a:off x="932693" y="3657888"/>
            <a:ext cx="2990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Client chính thức gửi payload AES; server phản hồi encrypted khi session đã dùng encrypted flag.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2" name="Google Shape;362;p27"/>
          <p:cNvSpPr/>
          <p:nvPr/>
        </p:nvSpPr>
        <p:spPr>
          <a:xfrm>
            <a:off x="4434841" y="3109730"/>
            <a:ext cx="33375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4434841" y="3109730"/>
            <a:ext cx="73200" cy="12984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4636008" y="3263599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Edge handling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7"/>
          <p:cNvSpPr txBox="1"/>
          <p:nvPr/>
        </p:nvSpPr>
        <p:spPr>
          <a:xfrm>
            <a:off x="4636008" y="3657888"/>
            <a:ext cx="299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Malformed flow ngoài room trả ERROR rõ, không silent timeout.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6" name="Google Shape;366;p27"/>
          <p:cNvSpPr/>
          <p:nvPr/>
        </p:nvSpPr>
        <p:spPr>
          <a:xfrm>
            <a:off x="8138158" y="3109730"/>
            <a:ext cx="2788800" cy="12984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27"/>
          <p:cNvSpPr/>
          <p:nvPr/>
        </p:nvSpPr>
        <p:spPr>
          <a:xfrm>
            <a:off x="8138158" y="3109730"/>
            <a:ext cx="73200" cy="12984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8339326" y="3263599"/>
            <a:ext cx="2469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Kiểm </a:t>
            </a: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chứng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9" name="Google Shape;369;p27"/>
          <p:cNvSpPr txBox="1"/>
          <p:nvPr/>
        </p:nvSpPr>
        <p:spPr>
          <a:xfrm>
            <a:off x="8339326" y="3657888"/>
            <a:ext cx="24414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Script python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8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Room/Race lifecycle</a:t>
            </a:r>
            <a:endParaRPr/>
          </a:p>
        </p:txBody>
      </p:sp>
      <p:sp>
        <p:nvSpPr>
          <p:cNvPr id="377" name="Google Shape;377;p28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App Logic + Multi Client</a:t>
            </a:r>
            <a:endParaRPr/>
          </a:p>
        </p:txBody>
      </p:sp>
      <p:sp>
        <p:nvSpPr>
          <p:cNvPr id="378" name="Google Shape;378;p28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15/30</a:t>
            </a:r>
            <a:endParaRPr/>
          </a:p>
        </p:txBody>
      </p:sp>
      <p:sp>
        <p:nvSpPr>
          <p:cNvPr id="379" name="Google Shape;379;p28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380" name="Google Shape;380;p28"/>
          <p:cNvSpPr/>
          <p:nvPr/>
        </p:nvSpPr>
        <p:spPr>
          <a:xfrm>
            <a:off x="685800" y="1600200"/>
            <a:ext cx="1942185" cy="98755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685800" y="1600200"/>
            <a:ext cx="73152" cy="987552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886968" y="174650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Create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886968" y="2091285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host tạo room + mode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2829153" y="1600200"/>
            <a:ext cx="1942185" cy="98755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2829153" y="1600200"/>
            <a:ext cx="73152" cy="987552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3030321" y="174650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Join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8"/>
          <p:cNvSpPr txBox="1"/>
          <p:nvPr/>
        </p:nvSpPr>
        <p:spPr>
          <a:xfrm>
            <a:off x="3030321" y="2091285"/>
            <a:ext cx="1594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capacity + session guard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88" name="Google Shape;388;p28"/>
          <p:cNvCxnSpPr/>
          <p:nvPr/>
        </p:nvCxnSpPr>
        <p:spPr>
          <a:xfrm>
            <a:off x="2627985" y="20939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9" name="Google Shape;389;p28"/>
          <p:cNvSpPr/>
          <p:nvPr/>
        </p:nvSpPr>
        <p:spPr>
          <a:xfrm>
            <a:off x="4972507" y="1600200"/>
            <a:ext cx="1942185" cy="98755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4972507" y="1600200"/>
            <a:ext cx="73152" cy="987552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8"/>
          <p:cNvSpPr txBox="1"/>
          <p:nvPr/>
        </p:nvSpPr>
        <p:spPr>
          <a:xfrm>
            <a:off x="5173675" y="174650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Ready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8"/>
          <p:cNvSpPr txBox="1"/>
          <p:nvPr/>
        </p:nvSpPr>
        <p:spPr>
          <a:xfrm>
            <a:off x="5173675" y="2091285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all-ready/countdown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3" name="Google Shape;393;p28"/>
          <p:cNvCxnSpPr/>
          <p:nvPr/>
        </p:nvCxnSpPr>
        <p:spPr>
          <a:xfrm>
            <a:off x="4771339" y="20939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28"/>
          <p:cNvSpPr/>
          <p:nvPr/>
        </p:nvSpPr>
        <p:spPr>
          <a:xfrm>
            <a:off x="7115860" y="1600200"/>
            <a:ext cx="1942185" cy="98755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7115860" y="1600200"/>
            <a:ext cx="73152" cy="987552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7317028" y="174650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Typing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7317028" y="2091285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progress broadcast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8" name="Google Shape;398;p28"/>
          <p:cNvCxnSpPr/>
          <p:nvPr/>
        </p:nvCxnSpPr>
        <p:spPr>
          <a:xfrm>
            <a:off x="6914692" y="20939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9" name="Google Shape;399;p28"/>
          <p:cNvSpPr/>
          <p:nvPr/>
        </p:nvSpPr>
        <p:spPr>
          <a:xfrm>
            <a:off x="9259214" y="1600200"/>
            <a:ext cx="1942185" cy="98755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8"/>
          <p:cNvSpPr/>
          <p:nvPr/>
        </p:nvSpPr>
        <p:spPr>
          <a:xfrm>
            <a:off x="9259214" y="1600200"/>
            <a:ext cx="73152" cy="987552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8"/>
          <p:cNvSpPr txBox="1"/>
          <p:nvPr/>
        </p:nvSpPr>
        <p:spPr>
          <a:xfrm>
            <a:off x="9460382" y="174650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Finish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2" name="Google Shape;402;p28"/>
          <p:cNvSpPr txBox="1"/>
          <p:nvPr/>
        </p:nvSpPr>
        <p:spPr>
          <a:xfrm>
            <a:off x="9460382" y="2091285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lock + persist result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3" name="Google Shape;403;p28"/>
          <p:cNvCxnSpPr/>
          <p:nvPr/>
        </p:nvCxnSpPr>
        <p:spPr>
          <a:xfrm>
            <a:off x="9058046" y="20939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4" name="Google Shape;404;p28"/>
          <p:cNvSpPr/>
          <p:nvPr/>
        </p:nvSpPr>
        <p:spPr>
          <a:xfrm>
            <a:off x="822960" y="3337560"/>
            <a:ext cx="333756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8"/>
          <p:cNvSpPr/>
          <p:nvPr/>
        </p:nvSpPr>
        <p:spPr>
          <a:xfrm>
            <a:off x="822960" y="3337560"/>
            <a:ext cx="73152" cy="13716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28"/>
          <p:cNvSpPr txBox="1"/>
          <p:nvPr/>
        </p:nvSpPr>
        <p:spPr>
          <a:xfrm>
            <a:off x="1024128" y="3483864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Luồng cải tiến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8"/>
          <p:cNvSpPr txBox="1"/>
          <p:nvPr/>
        </p:nvSpPr>
        <p:spPr>
          <a:xfrm>
            <a:off x="1024128" y="3858768"/>
            <a:ext cx="29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host rời phòng có transfer</a:t>
            </a:r>
            <a:b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timeout khi không finish</a:t>
            </a:r>
            <a:b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duplicate finish bị chặn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8" name="Google Shape;408;p28"/>
          <p:cNvSpPr/>
          <p:nvPr/>
        </p:nvSpPr>
        <p:spPr>
          <a:xfrm>
            <a:off x="4434840" y="3337560"/>
            <a:ext cx="333756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4434840" y="3337560"/>
            <a:ext cx="73152" cy="13716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8"/>
          <p:cNvSpPr txBox="1"/>
          <p:nvPr/>
        </p:nvSpPr>
        <p:spPr>
          <a:xfrm>
            <a:off x="4636007" y="3483864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Chống dữ liệu xấu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1" name="Google Shape;411;p28"/>
          <p:cNvSpPr txBox="1"/>
          <p:nvPr/>
        </p:nvSpPr>
        <p:spPr>
          <a:xfrm>
            <a:off x="4636007" y="3858768"/>
            <a:ext cx="29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typing burst bị clamp</a:t>
            </a:r>
            <a:b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finish lock tránh ghi trùng</a:t>
            </a:r>
            <a:b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• stats request có bounds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8046720" y="3337560"/>
            <a:ext cx="260610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8046720" y="3337560"/>
            <a:ext cx="73200" cy="13716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"/>
          <p:cNvSpPr txBox="1"/>
          <p:nvPr/>
        </p:nvSpPr>
        <p:spPr>
          <a:xfrm>
            <a:off x="8247888" y="3483864"/>
            <a:ext cx="228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Kết quả chạy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8"/>
          <p:cNvSpPr txBox="1"/>
          <p:nvPr/>
        </p:nvSpPr>
        <p:spPr>
          <a:xfrm>
            <a:off x="8247888" y="3858768"/>
            <a:ext cx="22587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Script python</a:t>
            </a:r>
            <a:endParaRPr sz="1300">
              <a:solidFill>
                <a:srgbClr val="F5F7FA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9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9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Thread &amp; state safety</a:t>
            </a:r>
            <a:endParaRPr/>
          </a:p>
        </p:txBody>
      </p:sp>
      <p:sp>
        <p:nvSpPr>
          <p:cNvPr id="423" name="Google Shape;423;p29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Thread + Multi Client</a:t>
            </a:r>
            <a:endParaRPr/>
          </a:p>
        </p:txBody>
      </p:sp>
      <p:sp>
        <p:nvSpPr>
          <p:cNvPr id="424" name="Google Shape;424;p29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16/30</a:t>
            </a:r>
            <a:endParaRPr/>
          </a:p>
        </p:txBody>
      </p:sp>
      <p:sp>
        <p:nvSpPr>
          <p:cNvPr id="425" name="Google Shape;425;p29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731520" y="1325880"/>
            <a:ext cx="32461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731520" y="1325880"/>
            <a:ext cx="73152" cy="141732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29"/>
          <p:cNvSpPr txBox="1"/>
          <p:nvPr/>
        </p:nvSpPr>
        <p:spPr>
          <a:xfrm>
            <a:off x="932688" y="1472184"/>
            <a:ext cx="29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State dùng ConcurrentDictionary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9" name="Google Shape;429;p29"/>
          <p:cNvSpPr txBox="1"/>
          <p:nvPr/>
        </p:nvSpPr>
        <p:spPr>
          <a:xfrm>
            <a:off x="932688" y="2007744"/>
            <a:ext cx="289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Quản lý clients, rooms, mistake memory theo key; giảm rủi ro race condition khi nhiều client thao tác.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4434840" y="1325880"/>
            <a:ext cx="32461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"/>
          <p:cNvSpPr/>
          <p:nvPr/>
        </p:nvSpPr>
        <p:spPr>
          <a:xfrm>
            <a:off x="4434840" y="1325880"/>
            <a:ext cx="73152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 txBox="1"/>
          <p:nvPr/>
        </p:nvSpPr>
        <p:spPr>
          <a:xfrm>
            <a:off x="4636007" y="1472184"/>
            <a:ext cx="2926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Send lock bằng SemaphoreSlim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3" name="Google Shape;433;p29"/>
          <p:cNvSpPr txBox="1"/>
          <p:nvPr/>
        </p:nvSpPr>
        <p:spPr>
          <a:xfrm>
            <a:off x="4636007" y="2007744"/>
            <a:ext cx="289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Mỗi session serialize thao tác ghi NetworkStream, tránh nhiều task cùng ghi lên một socket.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8138160" y="1325880"/>
            <a:ext cx="274320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8138160" y="1325880"/>
            <a:ext cx="73152" cy="141732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9"/>
          <p:cNvSpPr txBox="1"/>
          <p:nvPr/>
        </p:nvSpPr>
        <p:spPr>
          <a:xfrm>
            <a:off x="8339328" y="1472184"/>
            <a:ext cx="242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Finish/timeout lock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29"/>
          <p:cNvSpPr txBox="1"/>
          <p:nvPr/>
        </p:nvSpPr>
        <p:spPr>
          <a:xfrm>
            <a:off x="8339328" y="2007744"/>
            <a:ext cx="239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Tránh double-finish và vẫn trả kết quả khi có người không hoàn thành.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29"/>
          <p:cNvSpPr/>
          <p:nvPr/>
        </p:nvSpPr>
        <p:spPr>
          <a:xfrm>
            <a:off x="1097275" y="3520450"/>
            <a:ext cx="2926200" cy="10983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1097275" y="3520450"/>
            <a:ext cx="73200" cy="10983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29"/>
          <p:cNvSpPr txBox="1"/>
          <p:nvPr/>
        </p:nvSpPr>
        <p:spPr>
          <a:xfrm>
            <a:off x="1298448" y="3666744"/>
            <a:ext cx="260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HeartbeatService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29"/>
          <p:cNvSpPr txBox="1"/>
          <p:nvPr/>
        </p:nvSpPr>
        <p:spPr>
          <a:xfrm>
            <a:off x="1298448" y="4041648"/>
            <a:ext cx="257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Background monitor phát hiện client rớt.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4571998" y="3520450"/>
            <a:ext cx="2926200" cy="10983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9"/>
          <p:cNvSpPr/>
          <p:nvPr/>
        </p:nvSpPr>
        <p:spPr>
          <a:xfrm>
            <a:off x="4571998" y="3520450"/>
            <a:ext cx="73200" cy="10983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9"/>
          <p:cNvSpPr txBox="1"/>
          <p:nvPr/>
        </p:nvSpPr>
        <p:spPr>
          <a:xfrm>
            <a:off x="4773168" y="3666744"/>
            <a:ext cx="260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AI grace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5" name="Google Shape;445;p29"/>
          <p:cNvSpPr txBox="1"/>
          <p:nvPr/>
        </p:nvSpPr>
        <p:spPr>
          <a:xfrm>
            <a:off x="4773168" y="4041648"/>
            <a:ext cx="2578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Không đá client khi request AI kéo dài.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30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Load balancing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30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Multi Server + Load Balancing</a:t>
            </a:r>
            <a:endParaRPr/>
          </a:p>
        </p:txBody>
      </p:sp>
      <p:sp>
        <p:nvSpPr>
          <p:cNvPr id="454" name="Google Shape;454;p30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17/30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456" name="Google Shape;456;p30"/>
          <p:cNvSpPr/>
          <p:nvPr/>
        </p:nvSpPr>
        <p:spPr>
          <a:xfrm>
            <a:off x="73152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93268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Thuật toán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30"/>
          <p:cNvSpPr txBox="1"/>
          <p:nvPr/>
        </p:nvSpPr>
        <p:spPr>
          <a:xfrm>
            <a:off x="932701" y="1755650"/>
            <a:ext cx="2999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RoundRobin và LeastConnections; backend có active connection counter thread-safe.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425196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4251960" y="1234440"/>
            <a:ext cx="73152" cy="13258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445312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Health check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4453128" y="1755648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TCP check định kỳ; backend offline bị loại khỏi danh sách chọn.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777240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30"/>
          <p:cNvSpPr/>
          <p:nvPr/>
        </p:nvSpPr>
        <p:spPr>
          <a:xfrm>
            <a:off x="7772400" y="1234440"/>
            <a:ext cx="73152" cy="132588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0"/>
          <p:cNvSpPr txBox="1"/>
          <p:nvPr/>
        </p:nvSpPr>
        <p:spPr>
          <a:xfrm>
            <a:off x="797356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Proxy L4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7" name="Google Shape;467;p30"/>
          <p:cNvSpPr txBox="1"/>
          <p:nvPr/>
        </p:nvSpPr>
        <p:spPr>
          <a:xfrm>
            <a:off x="7973568" y="1755648"/>
            <a:ext cx="285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Forward byte stream hai chiều, không cần parse protocol game.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8" name="Google Shape;468;p30"/>
          <p:cNvSpPr/>
          <p:nvPr/>
        </p:nvSpPr>
        <p:spPr>
          <a:xfrm>
            <a:off x="914400" y="3154680"/>
            <a:ext cx="48463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0"/>
          <p:cNvSpPr/>
          <p:nvPr/>
        </p:nvSpPr>
        <p:spPr>
          <a:xfrm>
            <a:off x="914400" y="315468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0"/>
          <p:cNvSpPr txBox="1"/>
          <p:nvPr/>
        </p:nvSpPr>
        <p:spPr>
          <a:xfrm>
            <a:off x="1115568" y="3300984"/>
            <a:ext cx="4526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Kết quả chạy local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71" name="Google Shape;471;p30"/>
          <p:cNvSpPr txBox="1"/>
          <p:nvPr/>
        </p:nvSpPr>
        <p:spPr>
          <a:xfrm>
            <a:off x="1115568" y="3675888"/>
            <a:ext cx="44988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ROUND_ROBIN ok: backend-a/b xen kẽ</a:t>
            </a:r>
            <a:br>
              <a:rPr i="0" lang="en-US" sz="12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HEALTH_FAILOVER ok: traffic chỉ vào backend còn sống</a:t>
            </a:r>
            <a:br>
              <a:rPr i="0" lang="en-US" sz="12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i="0" lang="en-US" sz="12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LOAD BALANCER PROBE TEST PASSED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1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Persistence</a:t>
            </a:r>
            <a:endParaRPr/>
          </a:p>
        </p:txBody>
      </p:sp>
      <p:sp>
        <p:nvSpPr>
          <p:cNvPr id="479" name="Google Shape;479;p31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Database + I/O</a:t>
            </a:r>
            <a:endParaRPr/>
          </a:p>
        </p:txBody>
      </p:sp>
      <p:sp>
        <p:nvSpPr>
          <p:cNvPr id="480" name="Google Shape;480;p31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18/30</a:t>
            </a:r>
            <a:endParaRPr/>
          </a:p>
        </p:txBody>
      </p:sp>
      <p:sp>
        <p:nvSpPr>
          <p:cNvPr id="481" name="Google Shape;481;p31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482" name="Google Shape;482;p31"/>
          <p:cNvSpPr/>
          <p:nvPr/>
        </p:nvSpPr>
        <p:spPr>
          <a:xfrm>
            <a:off x="731520" y="1234440"/>
            <a:ext cx="30175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4" name="Google Shape;484;p31"/>
          <p:cNvSpPr txBox="1"/>
          <p:nvPr/>
        </p:nvSpPr>
        <p:spPr>
          <a:xfrm>
            <a:off x="932688" y="1380744"/>
            <a:ext cx="269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SQL Server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5" name="Google Shape;485;p31"/>
          <p:cNvSpPr txBox="1"/>
          <p:nvPr/>
        </p:nvSpPr>
        <p:spPr>
          <a:xfrm>
            <a:off x="932688" y="1755648"/>
            <a:ext cx="2670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Schema, index, seed passages, migration language; dùng cho VPS runtime và leaderboard/history.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6" name="Google Shape;486;p31"/>
          <p:cNvSpPr/>
          <p:nvPr/>
        </p:nvSpPr>
        <p:spPr>
          <a:xfrm>
            <a:off x="4160520" y="1234440"/>
            <a:ext cx="30175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7" name="Google Shape;487;p31"/>
          <p:cNvSpPr/>
          <p:nvPr/>
        </p:nvSpPr>
        <p:spPr>
          <a:xfrm>
            <a:off x="4160520" y="1234440"/>
            <a:ext cx="73152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8" name="Google Shape;488;p31"/>
          <p:cNvSpPr txBox="1"/>
          <p:nvPr/>
        </p:nvSpPr>
        <p:spPr>
          <a:xfrm>
            <a:off x="4361688" y="1380744"/>
            <a:ext cx="269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MongoDB provider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89" name="Google Shape;489;p31"/>
          <p:cNvSpPr txBox="1"/>
          <p:nvPr/>
        </p:nvSpPr>
        <p:spPr>
          <a:xfrm>
            <a:off x="4361688" y="1755648"/>
            <a:ext cx="267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MongoUser/Race/Chat/Passage repositories, auto seed nếu collection rỗng, config qua env.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7589520" y="1234440"/>
            <a:ext cx="320040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7589520" y="1234440"/>
            <a:ext cx="73152" cy="141732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2" name="Google Shape;492;p31"/>
          <p:cNvSpPr txBox="1"/>
          <p:nvPr/>
        </p:nvSpPr>
        <p:spPr>
          <a:xfrm>
            <a:off x="779068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Repository contracts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3" name="Google Shape;493;p31"/>
          <p:cNvSpPr txBox="1"/>
          <p:nvPr/>
        </p:nvSpPr>
        <p:spPr>
          <a:xfrm>
            <a:off x="7790688" y="1755648"/>
            <a:ext cx="2853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Server bootstrap chọn provider qua Data: Provider, giúp demo mở rộng kiến trúc dữ liệu.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914400" y="3337560"/>
            <a:ext cx="4343400" cy="12344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5" name="Google Shape;495;p31"/>
          <p:cNvSpPr/>
          <p:nvPr/>
        </p:nvSpPr>
        <p:spPr>
          <a:xfrm>
            <a:off x="914400" y="3337560"/>
            <a:ext cx="73152" cy="12344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31"/>
          <p:cNvSpPr txBox="1"/>
          <p:nvPr/>
        </p:nvSpPr>
        <p:spPr>
          <a:xfrm>
            <a:off x="1115568" y="3483864"/>
            <a:ext cx="402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I/O file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7" name="Google Shape;497;p31"/>
          <p:cNvSpPr txBox="1"/>
          <p:nvPr/>
        </p:nvSpPr>
        <p:spPr>
          <a:xfrm>
            <a:off x="1115568" y="3858768"/>
            <a:ext cx="39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FileLogger ghi log server theo timestamp; ResultForm xuất .txt, JSON, CSV cho race/AI analytics.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0" y="100584"/>
            <a:ext cx="82200" cy="6757500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2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Auth &amp; cryptography: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Sign in/up + Cryptography</a:t>
            </a:r>
            <a:endParaRPr/>
          </a:p>
        </p:txBody>
      </p:sp>
      <p:sp>
        <p:nvSpPr>
          <p:cNvPr id="506" name="Google Shape;506;p32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19/30</a:t>
            </a:r>
            <a:endParaRPr/>
          </a:p>
        </p:txBody>
      </p:sp>
      <p:sp>
        <p:nvSpPr>
          <p:cNvPr id="507" name="Google Shape;507;p32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508" name="Google Shape;508;p32"/>
          <p:cNvSpPr/>
          <p:nvPr/>
        </p:nvSpPr>
        <p:spPr>
          <a:xfrm>
            <a:off x="731520" y="1234440"/>
            <a:ext cx="315468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32"/>
          <p:cNvSpPr txBox="1"/>
          <p:nvPr/>
        </p:nvSpPr>
        <p:spPr>
          <a:xfrm>
            <a:off x="932688" y="1380744"/>
            <a:ext cx="28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Password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1" name="Google Shape;511;p32"/>
          <p:cNvSpPr txBox="1"/>
          <p:nvPr/>
        </p:nvSpPr>
        <p:spPr>
          <a:xfrm>
            <a:off x="932688" y="1755648"/>
            <a:ext cx="280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PBKDF2-HMAC-SHA256 + salt riêng từng user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4343400" y="1234440"/>
            <a:ext cx="315468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4343400" y="1234440"/>
            <a:ext cx="73152" cy="132588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2"/>
          <p:cNvSpPr txBox="1"/>
          <p:nvPr/>
        </p:nvSpPr>
        <p:spPr>
          <a:xfrm>
            <a:off x="4544568" y="1380744"/>
            <a:ext cx="283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Session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5" name="Google Shape;515;p32"/>
          <p:cNvSpPr txBox="1"/>
          <p:nvPr/>
        </p:nvSpPr>
        <p:spPr>
          <a:xfrm>
            <a:off x="4544568" y="1755648"/>
            <a:ext cx="2807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Token random; duplicate login invalidate session cũ; logout clear state liên quan.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7955279" y="1234440"/>
            <a:ext cx="288036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7955279" y="1234440"/>
            <a:ext cx="73152" cy="1325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32"/>
          <p:cNvSpPr txBox="1"/>
          <p:nvPr/>
        </p:nvSpPr>
        <p:spPr>
          <a:xfrm>
            <a:off x="8156448" y="1380744"/>
            <a:ext cx="2560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Payload TCP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2"/>
          <p:cNvSpPr txBox="1"/>
          <p:nvPr/>
        </p:nvSpPr>
        <p:spPr>
          <a:xfrm>
            <a:off x="8156448" y="1755648"/>
            <a:ext cx="2532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AES-256-CBC, IV ngẫu nhiên từng message, flag Encrypted trong protocol.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2415500" y="3694200"/>
            <a:ext cx="2148900" cy="11952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32"/>
          <p:cNvSpPr txBox="1"/>
          <p:nvPr/>
        </p:nvSpPr>
        <p:spPr>
          <a:xfrm>
            <a:off x="2506950" y="3858787"/>
            <a:ext cx="1965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PASS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2" name="Google Shape;522;p32"/>
          <p:cNvSpPr txBox="1"/>
          <p:nvPr/>
        </p:nvSpPr>
        <p:spPr>
          <a:xfrm>
            <a:off x="2552669" y="4352562"/>
            <a:ext cx="187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encrypted_protocol_test.py qua VPS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5021547" y="3694200"/>
            <a:ext cx="2148900" cy="11952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2"/>
          <p:cNvSpPr txBox="1"/>
          <p:nvPr/>
        </p:nvSpPr>
        <p:spPr>
          <a:xfrm>
            <a:off x="5112989" y="3858787"/>
            <a:ext cx="1965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5" name="Google Shape;525;p32"/>
          <p:cNvSpPr txBox="1"/>
          <p:nvPr/>
        </p:nvSpPr>
        <p:spPr>
          <a:xfrm>
            <a:off x="5158710" y="4352562"/>
            <a:ext cx="187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random IV / roundtrip / tamper tests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7627594" y="3694200"/>
            <a:ext cx="2148900" cy="11952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5225">
            <a:solidFill>
              <a:srgbClr val="FACC1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32"/>
          <p:cNvSpPr txBox="1"/>
          <p:nvPr/>
        </p:nvSpPr>
        <p:spPr>
          <a:xfrm>
            <a:off x="7719029" y="3858787"/>
            <a:ext cx="1965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SHA-256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32"/>
          <p:cNvSpPr txBox="1"/>
          <p:nvPr/>
        </p:nvSpPr>
        <p:spPr>
          <a:xfrm>
            <a:off x="7764750" y="4352562"/>
            <a:ext cx="1874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BCC4D0"/>
                </a:solidFill>
                <a:latin typeface="Inter"/>
                <a:ea typeface="Inter"/>
                <a:cs typeface="Inter"/>
                <a:sym typeface="Inter"/>
              </a:rPr>
              <a:t>verification hash cho report/export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3"/>
          <p:cNvSpPr txBox="1"/>
          <p:nvPr/>
        </p:nvSpPr>
        <p:spPr>
          <a:xfrm>
            <a:off x="594360" y="384048"/>
            <a:ext cx="8138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Gameplay modes: tăng chiều sâu sản phẩm</a:t>
            </a:r>
            <a:endParaRPr/>
          </a:p>
        </p:txBody>
      </p:sp>
      <p:sp>
        <p:nvSpPr>
          <p:cNvPr id="536" name="Google Shape;536;p33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App Logic + Sáng tạo</a:t>
            </a:r>
            <a:endParaRPr/>
          </a:p>
        </p:txBody>
      </p:sp>
      <p:sp>
        <p:nvSpPr>
          <p:cNvPr id="537" name="Google Shape;537;p33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20/30</a:t>
            </a:r>
            <a:endParaRPr/>
          </a:p>
        </p:txBody>
      </p:sp>
      <p:sp>
        <p:nvSpPr>
          <p:cNvPr id="538" name="Google Shape;538;p33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539" name="Google Shape;539;p33"/>
          <p:cNvSpPr/>
          <p:nvPr/>
        </p:nvSpPr>
        <p:spPr>
          <a:xfrm>
            <a:off x="731525" y="1234450"/>
            <a:ext cx="22860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731525" y="1234450"/>
            <a:ext cx="73200" cy="14067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3"/>
          <p:cNvSpPr txBox="1"/>
          <p:nvPr/>
        </p:nvSpPr>
        <p:spPr>
          <a:xfrm>
            <a:off x="932693" y="1441363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Classic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2" name="Google Shape;542;p33"/>
          <p:cNvSpPr txBox="1"/>
          <p:nvPr/>
        </p:nvSpPr>
        <p:spPr>
          <a:xfrm>
            <a:off x="932693" y="1868630"/>
            <a:ext cx="19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Race chuẩn để so sánh WPM/accuracy.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3246125" y="1234450"/>
            <a:ext cx="22860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3246125" y="1234450"/>
            <a:ext cx="73200" cy="14067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33"/>
          <p:cNvSpPr txBox="1"/>
          <p:nvPr/>
        </p:nvSpPr>
        <p:spPr>
          <a:xfrm>
            <a:off x="3447293" y="1441363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6" name="Google Shape;546;p33"/>
          <p:cNvSpPr txBox="1"/>
          <p:nvPr/>
        </p:nvSpPr>
        <p:spPr>
          <a:xfrm>
            <a:off x="3447293" y="1868630"/>
            <a:ext cx="193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Ưu tiên độ chính xác, phù hợp luyện kỷ luật gõ.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7" name="Google Shape;547;p33"/>
          <p:cNvSpPr/>
          <p:nvPr/>
        </p:nvSpPr>
        <p:spPr>
          <a:xfrm>
            <a:off x="5760725" y="1234450"/>
            <a:ext cx="22860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3"/>
          <p:cNvSpPr/>
          <p:nvPr/>
        </p:nvSpPr>
        <p:spPr>
          <a:xfrm>
            <a:off x="5760725" y="1234450"/>
            <a:ext cx="73200" cy="14067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3"/>
          <p:cNvSpPr txBox="1"/>
          <p:nvPr/>
        </p:nvSpPr>
        <p:spPr>
          <a:xfrm>
            <a:off x="5961893" y="1441363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No Backspace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3"/>
          <p:cNvSpPr txBox="1"/>
          <p:nvPr/>
        </p:nvSpPr>
        <p:spPr>
          <a:xfrm>
            <a:off x="5961893" y="1828455"/>
            <a:ext cx="1938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Dùng phím xóa là bị loại, tăng áp lực thao tác.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3"/>
          <p:cNvSpPr/>
          <p:nvPr/>
        </p:nvSpPr>
        <p:spPr>
          <a:xfrm>
            <a:off x="8275325" y="1234450"/>
            <a:ext cx="22860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3"/>
          <p:cNvSpPr/>
          <p:nvPr/>
        </p:nvSpPr>
        <p:spPr>
          <a:xfrm>
            <a:off x="8275325" y="1234450"/>
            <a:ext cx="73200" cy="14067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8476493" y="1401188"/>
            <a:ext cx="1965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Sudden Death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3"/>
          <p:cNvSpPr txBox="1"/>
          <p:nvPr/>
        </p:nvSpPr>
        <p:spPr>
          <a:xfrm>
            <a:off x="8476493" y="1828455"/>
            <a:ext cx="1938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Sai ký tự là bị loại sau kiểm tra từ/Telex.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960125" y="3422891"/>
            <a:ext cx="44805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33"/>
          <p:cNvSpPr/>
          <p:nvPr/>
        </p:nvSpPr>
        <p:spPr>
          <a:xfrm>
            <a:off x="960125" y="3422891"/>
            <a:ext cx="73200" cy="14067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33"/>
          <p:cNvSpPr txBox="1"/>
          <p:nvPr/>
        </p:nvSpPr>
        <p:spPr>
          <a:xfrm>
            <a:off x="1161293" y="3589629"/>
            <a:ext cx="41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AI Practice 4 cấp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8" name="Google Shape;558;p33"/>
          <p:cNvSpPr txBox="1"/>
          <p:nvPr/>
        </p:nvSpPr>
        <p:spPr>
          <a:xfrm>
            <a:off x="1161293" y="4016896"/>
            <a:ext cx="4133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easy, medium, hard, nightmare; bot/RPM mục tiêu tăng theo cấp, dùng lại trong AI mission.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Google Shape;559;p33"/>
          <p:cNvSpPr/>
          <p:nvPr/>
        </p:nvSpPr>
        <p:spPr>
          <a:xfrm>
            <a:off x="5897885" y="3422891"/>
            <a:ext cx="4480500" cy="14067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3"/>
          <p:cNvSpPr/>
          <p:nvPr/>
        </p:nvSpPr>
        <p:spPr>
          <a:xfrm>
            <a:off x="5897885" y="3422891"/>
            <a:ext cx="73200" cy="14067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3"/>
          <p:cNvSpPr txBox="1"/>
          <p:nvPr/>
        </p:nvSpPr>
        <p:spPr>
          <a:xfrm>
            <a:off x="6099053" y="3589629"/>
            <a:ext cx="4160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Kết quả chạy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2" name="Google Shape;562;p33"/>
          <p:cNvSpPr txBox="1"/>
          <p:nvPr/>
        </p:nvSpPr>
        <p:spPr>
          <a:xfrm>
            <a:off x="6099053" y="4016896"/>
            <a:ext cx="4133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game_mode_protocol_test.py PASS đủ 8 case: classic, accuracy, no_backspace, sudden_death, AI practice 4 cấp.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4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4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Custom text &amp; warm-up: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34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UI/UX + Sáng tạo</a:t>
            </a:r>
            <a:endParaRPr/>
          </a:p>
        </p:txBody>
      </p:sp>
      <p:sp>
        <p:nvSpPr>
          <p:cNvPr id="571" name="Google Shape;571;p34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21/30</a:t>
            </a:r>
            <a:endParaRPr/>
          </a:p>
        </p:txBody>
      </p:sp>
      <p:sp>
        <p:nvSpPr>
          <p:cNvPr id="572" name="Google Shape;572;p34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731520" y="1234440"/>
            <a:ext cx="32461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4"/>
          <p:cNvSpPr txBox="1"/>
          <p:nvPr/>
        </p:nvSpPr>
        <p:spPr>
          <a:xfrm>
            <a:off x="932688" y="1380744"/>
            <a:ext cx="292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Custom passage room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6" name="Google Shape;576;p34"/>
          <p:cNvSpPr txBox="1"/>
          <p:nvPr/>
        </p:nvSpPr>
        <p:spPr>
          <a:xfrm>
            <a:off x="932688" y="1755648"/>
            <a:ext cx="289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Host tự nhập đoạn gõ; server normalize và tạo passage cho race, room list hiển thị nguồn text.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4434840" y="1234440"/>
            <a:ext cx="324612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4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4"/>
          <p:cNvSpPr txBox="1"/>
          <p:nvPr/>
        </p:nvSpPr>
        <p:spPr>
          <a:xfrm>
            <a:off x="4636007" y="1380744"/>
            <a:ext cx="2926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Solo practice từ lobby/result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34"/>
          <p:cNvSpPr txBox="1"/>
          <p:nvPr/>
        </p:nvSpPr>
        <p:spPr>
          <a:xfrm>
            <a:off x="4636007" y="1755648"/>
            <a:ext cx="2898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Có thể luyện ngay đoạn custom hoặc bài AI mà không cần đủ người chơi.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1" name="Google Shape;581;p34"/>
          <p:cNvSpPr/>
          <p:nvPr/>
        </p:nvSpPr>
        <p:spPr>
          <a:xfrm>
            <a:off x="8138160" y="1234440"/>
            <a:ext cx="2743200" cy="141732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34"/>
          <p:cNvSpPr/>
          <p:nvPr/>
        </p:nvSpPr>
        <p:spPr>
          <a:xfrm>
            <a:off x="8138160" y="1234440"/>
            <a:ext cx="73152" cy="141732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34"/>
          <p:cNvSpPr txBox="1"/>
          <p:nvPr/>
        </p:nvSpPr>
        <p:spPr>
          <a:xfrm>
            <a:off x="8339328" y="1380744"/>
            <a:ext cx="2423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Warm-up phòng chờ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4" name="Google Shape;584;p34"/>
          <p:cNvSpPr txBox="1"/>
          <p:nvPr/>
        </p:nvSpPr>
        <p:spPr>
          <a:xfrm>
            <a:off x="8339328" y="1755648"/>
            <a:ext cx="239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Raw WPM, accuracy streak, lỗi ghi ngay lúc gõ sai dù đã sửa.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34"/>
          <p:cNvSpPr/>
          <p:nvPr/>
        </p:nvSpPr>
        <p:spPr>
          <a:xfrm>
            <a:off x="1051560" y="3703320"/>
            <a:ext cx="2368296" cy="868680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4"/>
          <p:cNvSpPr/>
          <p:nvPr/>
        </p:nvSpPr>
        <p:spPr>
          <a:xfrm>
            <a:off x="1051560" y="3703320"/>
            <a:ext cx="73152" cy="86868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4"/>
          <p:cNvSpPr txBox="1"/>
          <p:nvPr/>
        </p:nvSpPr>
        <p:spPr>
          <a:xfrm>
            <a:off x="1252728" y="3849624"/>
            <a:ext cx="20482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Chờ phòng</a:t>
            </a:r>
            <a:endParaRPr>
              <a:solidFill>
                <a:srgbClr val="2DD4B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8" name="Google Shape;588;p34"/>
          <p:cNvSpPr txBox="1"/>
          <p:nvPr/>
        </p:nvSpPr>
        <p:spPr>
          <a:xfrm>
            <a:off x="1252728" y="4224528"/>
            <a:ext cx="20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không rảnh tay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34"/>
          <p:cNvSpPr/>
          <p:nvPr/>
        </p:nvSpPr>
        <p:spPr>
          <a:xfrm>
            <a:off x="3767327" y="3703320"/>
            <a:ext cx="2368296" cy="868680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34"/>
          <p:cNvSpPr/>
          <p:nvPr/>
        </p:nvSpPr>
        <p:spPr>
          <a:xfrm>
            <a:off x="3767327" y="3703320"/>
            <a:ext cx="73152" cy="868680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34"/>
          <p:cNvSpPr txBox="1"/>
          <p:nvPr/>
        </p:nvSpPr>
        <p:spPr>
          <a:xfrm>
            <a:off x="3968495" y="3849624"/>
            <a:ext cx="204825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rPr>
              <a:t>Warm-up</a:t>
            </a:r>
            <a:endParaRPr>
              <a:solidFill>
                <a:schemeClr val="accent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34"/>
          <p:cNvSpPr txBox="1"/>
          <p:nvPr/>
        </p:nvSpPr>
        <p:spPr>
          <a:xfrm>
            <a:off x="3968495" y="4224528"/>
            <a:ext cx="20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luyện câu ngắn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3" name="Google Shape;593;p34"/>
          <p:cNvCxnSpPr/>
          <p:nvPr/>
        </p:nvCxnSpPr>
        <p:spPr>
          <a:xfrm>
            <a:off x="3419856" y="4137659"/>
            <a:ext cx="347471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4" name="Google Shape;594;p34"/>
          <p:cNvSpPr/>
          <p:nvPr/>
        </p:nvSpPr>
        <p:spPr>
          <a:xfrm>
            <a:off x="9198771" y="3703320"/>
            <a:ext cx="2368200" cy="868800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4"/>
          <p:cNvSpPr/>
          <p:nvPr/>
        </p:nvSpPr>
        <p:spPr>
          <a:xfrm>
            <a:off x="9198771" y="3703320"/>
            <a:ext cx="73200" cy="8688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34"/>
          <p:cNvSpPr txBox="1"/>
          <p:nvPr/>
        </p:nvSpPr>
        <p:spPr>
          <a:xfrm>
            <a:off x="9399939" y="3849624"/>
            <a:ext cx="204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Ghi lỗi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34"/>
          <p:cNvSpPr txBox="1"/>
          <p:nvPr/>
        </p:nvSpPr>
        <p:spPr>
          <a:xfrm>
            <a:off x="9399939" y="4224528"/>
            <a:ext cx="20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phục vụ AI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598" name="Google Shape;598;p34"/>
          <p:cNvCxnSpPr/>
          <p:nvPr/>
        </p:nvCxnSpPr>
        <p:spPr>
          <a:xfrm>
            <a:off x="6135623" y="4137659"/>
            <a:ext cx="347473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9" name="Google Shape;599;p34"/>
          <p:cNvSpPr/>
          <p:nvPr/>
        </p:nvSpPr>
        <p:spPr>
          <a:xfrm>
            <a:off x="6483089" y="3703320"/>
            <a:ext cx="2368200" cy="868800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34"/>
          <p:cNvSpPr/>
          <p:nvPr/>
        </p:nvSpPr>
        <p:spPr>
          <a:xfrm>
            <a:off x="6483089" y="3703320"/>
            <a:ext cx="73200" cy="8688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34"/>
          <p:cNvSpPr txBox="1"/>
          <p:nvPr/>
        </p:nvSpPr>
        <p:spPr>
          <a:xfrm>
            <a:off x="6684257" y="3849624"/>
            <a:ext cx="2048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Race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34"/>
          <p:cNvSpPr txBox="1"/>
          <p:nvPr/>
        </p:nvSpPr>
        <p:spPr>
          <a:xfrm>
            <a:off x="6684257" y="4224528"/>
            <a:ext cx="2020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vào trận chính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03" name="Google Shape;603;p34"/>
          <p:cNvCxnSpPr/>
          <p:nvPr/>
        </p:nvCxnSpPr>
        <p:spPr>
          <a:xfrm>
            <a:off x="8851392" y="4137659"/>
            <a:ext cx="347472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4" name="Google Shape;604;p34"/>
          <p:cNvSpPr txBox="1"/>
          <p:nvPr/>
        </p:nvSpPr>
        <p:spPr>
          <a:xfrm>
            <a:off x="4997857" y="3064525"/>
            <a:ext cx="212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Quick Play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5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5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5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Race screen: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35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UI/UX + App Logic</a:t>
            </a:r>
            <a:endParaRPr/>
          </a:p>
        </p:txBody>
      </p:sp>
      <p:sp>
        <p:nvSpPr>
          <p:cNvPr id="613" name="Google Shape;613;p35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22/30</a:t>
            </a:r>
            <a:endParaRPr/>
          </a:p>
        </p:txBody>
      </p:sp>
      <p:sp>
        <p:nvSpPr>
          <p:cNvPr id="614" name="Google Shape;614;p35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615" name="Google Shape;615;p35"/>
          <p:cNvSpPr/>
          <p:nvPr/>
        </p:nvSpPr>
        <p:spPr>
          <a:xfrm>
            <a:off x="73152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5"/>
          <p:cNvSpPr txBox="1"/>
          <p:nvPr/>
        </p:nvSpPr>
        <p:spPr>
          <a:xfrm>
            <a:off x="93268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Live metrics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8" name="Google Shape;618;p35"/>
          <p:cNvSpPr txBox="1"/>
          <p:nvPr/>
        </p:nvSpPr>
        <p:spPr>
          <a:xfrm>
            <a:off x="932688" y="1755648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WPM, raw WPM, accuracy, đúng/sai, combo, timer theo phòng.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425196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5"/>
          <p:cNvSpPr/>
          <p:nvPr/>
        </p:nvSpPr>
        <p:spPr>
          <a:xfrm>
            <a:off x="4251960" y="1234440"/>
            <a:ext cx="73152" cy="132588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5"/>
          <p:cNvSpPr txBox="1"/>
          <p:nvPr/>
        </p:nvSpPr>
        <p:spPr>
          <a:xfrm>
            <a:off x="445312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Race track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2" name="Google Shape;622;p35"/>
          <p:cNvSpPr txBox="1"/>
          <p:nvPr/>
        </p:nvSpPr>
        <p:spPr>
          <a:xfrm>
            <a:off x="4453128" y="1755648"/>
            <a:ext cx="285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Xe chạy 0-100%,</a:t>
            </a:r>
            <a:r>
              <a:rPr lang="en-US" sz="1300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update realtime hạn chế flicker.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3" name="Google Shape;623;p35"/>
          <p:cNvSpPr/>
          <p:nvPr/>
        </p:nvSpPr>
        <p:spPr>
          <a:xfrm>
            <a:off x="7772400" y="1234440"/>
            <a:ext cx="320040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5"/>
          <p:cNvSpPr/>
          <p:nvPr/>
        </p:nvSpPr>
        <p:spPr>
          <a:xfrm>
            <a:off x="7772400" y="1234440"/>
            <a:ext cx="73152" cy="132588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5"/>
          <p:cNvSpPr txBox="1"/>
          <p:nvPr/>
        </p:nvSpPr>
        <p:spPr>
          <a:xfrm>
            <a:off x="7973568" y="138074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Rule enforcement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6" name="Google Shape;626;p35"/>
          <p:cNvSpPr txBox="1"/>
          <p:nvPr/>
        </p:nvSpPr>
        <p:spPr>
          <a:xfrm>
            <a:off x="7973568" y="1755648"/>
            <a:ext cx="2853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No Backspace/Sudden Death được xử lý ngay trong input flow.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35"/>
          <p:cNvSpPr/>
          <p:nvPr/>
        </p:nvSpPr>
        <p:spPr>
          <a:xfrm>
            <a:off x="731530" y="3296745"/>
            <a:ext cx="3063300" cy="12345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731530" y="3296745"/>
            <a:ext cx="73200" cy="12345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35"/>
          <p:cNvSpPr txBox="1"/>
          <p:nvPr/>
        </p:nvSpPr>
        <p:spPr>
          <a:xfrm>
            <a:off x="932698" y="3443049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Sample timeline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0" name="Google Shape;630;p35"/>
          <p:cNvSpPr txBox="1"/>
          <p:nvPr/>
        </p:nvSpPr>
        <p:spPr>
          <a:xfrm>
            <a:off x="932698" y="3817953"/>
            <a:ext cx="27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Lưu WPM/raw/accuracy theo thời gian để vẽ chart sau race.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6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36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36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Result screen</a:t>
            </a:r>
            <a:endParaRPr/>
          </a:p>
        </p:txBody>
      </p:sp>
      <p:sp>
        <p:nvSpPr>
          <p:cNvPr id="638" name="Google Shape;638;p36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UI/UX + I/O</a:t>
            </a:r>
            <a:endParaRPr/>
          </a:p>
        </p:txBody>
      </p:sp>
      <p:sp>
        <p:nvSpPr>
          <p:cNvPr id="639" name="Google Shape;639;p36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23/30</a:t>
            </a:r>
            <a:endParaRPr/>
          </a:p>
        </p:txBody>
      </p:sp>
      <p:sp>
        <p:nvSpPr>
          <p:cNvPr id="640" name="Google Shape;640;p36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641" name="Google Shape;641;p36"/>
          <p:cNvSpPr/>
          <p:nvPr/>
        </p:nvSpPr>
        <p:spPr>
          <a:xfrm>
            <a:off x="731520" y="1234440"/>
            <a:ext cx="306324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36"/>
          <p:cNvSpPr/>
          <p:nvPr/>
        </p:nvSpPr>
        <p:spPr>
          <a:xfrm>
            <a:off x="731520" y="1234440"/>
            <a:ext cx="73152" cy="13716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36"/>
          <p:cNvSpPr txBox="1"/>
          <p:nvPr/>
        </p:nvSpPr>
        <p:spPr>
          <a:xfrm>
            <a:off x="93268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Certificate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4" name="Google Shape;644;p36"/>
          <p:cNvSpPr txBox="1"/>
          <p:nvPr/>
        </p:nvSpPr>
        <p:spPr>
          <a:xfrm>
            <a:off x="932688" y="1755648"/>
            <a:ext cx="27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Bronze/Silver/Gold/Platinum/Diamond theo WPM + accuracy, có verification hash ngắn.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Google Shape;645;p36"/>
          <p:cNvSpPr/>
          <p:nvPr/>
        </p:nvSpPr>
        <p:spPr>
          <a:xfrm>
            <a:off x="4069080" y="1234440"/>
            <a:ext cx="306324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6"/>
          <p:cNvSpPr/>
          <p:nvPr/>
        </p:nvSpPr>
        <p:spPr>
          <a:xfrm>
            <a:off x="4069080" y="1234440"/>
            <a:ext cx="73152" cy="13716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36"/>
          <p:cNvSpPr txBox="1"/>
          <p:nvPr/>
        </p:nvSpPr>
        <p:spPr>
          <a:xfrm>
            <a:off x="427024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Progress local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8" name="Google Shape;648;p36"/>
          <p:cNvSpPr txBox="1"/>
          <p:nvPr/>
        </p:nvSpPr>
        <p:spPr>
          <a:xfrm>
            <a:off x="4270248" y="1755648"/>
            <a:ext cx="27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Daily challenge, personal best theo mode, keyboard mastery từ lỗi realtime.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36"/>
          <p:cNvSpPr/>
          <p:nvPr/>
        </p:nvSpPr>
        <p:spPr>
          <a:xfrm>
            <a:off x="7406640" y="1234440"/>
            <a:ext cx="3337560" cy="13716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6"/>
          <p:cNvSpPr/>
          <p:nvPr/>
        </p:nvSpPr>
        <p:spPr>
          <a:xfrm>
            <a:off x="7406640" y="1234440"/>
            <a:ext cx="73152" cy="13716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6"/>
          <p:cNvSpPr txBox="1"/>
          <p:nvPr/>
        </p:nvSpPr>
        <p:spPr>
          <a:xfrm>
            <a:off x="7607808" y="1380744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Export/share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2" name="Google Shape;652;p36"/>
          <p:cNvSpPr txBox="1"/>
          <p:nvPr/>
        </p:nvSpPr>
        <p:spPr>
          <a:xfrm>
            <a:off x="7607808" y="1755648"/>
            <a:ext cx="2990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Copy score, xuất report .txt, analytics JSON/CSV, Verification SHA-256.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3" name="Google Shape;653;p36"/>
          <p:cNvSpPr/>
          <p:nvPr/>
        </p:nvSpPr>
        <p:spPr>
          <a:xfrm>
            <a:off x="1005840" y="3337560"/>
            <a:ext cx="4251960" cy="12344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6"/>
          <p:cNvSpPr/>
          <p:nvPr/>
        </p:nvSpPr>
        <p:spPr>
          <a:xfrm>
            <a:off x="1005840" y="3337560"/>
            <a:ext cx="73152" cy="123444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6"/>
          <p:cNvSpPr txBox="1"/>
          <p:nvPr/>
        </p:nvSpPr>
        <p:spPr>
          <a:xfrm>
            <a:off x="1207008" y="3483864"/>
            <a:ext cx="3931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Ý nghĩa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6" name="Google Shape;656;p36"/>
          <p:cNvSpPr txBox="1"/>
          <p:nvPr/>
        </p:nvSpPr>
        <p:spPr>
          <a:xfrm>
            <a:off x="1207008" y="3858768"/>
            <a:ext cx="390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Không chỉ “hiển thị kết quả”; có file I/O, có tính xác minh, có dữ liệu để phân tích sau race.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7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37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 Coach pipeline</a:t>
            </a:r>
            <a:endParaRPr/>
          </a:p>
        </p:txBody>
      </p:sp>
      <p:sp>
        <p:nvSpPr>
          <p:cNvPr id="664" name="Google Shape;664;p37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Tư duy sáng tạo</a:t>
            </a:r>
            <a:endParaRPr/>
          </a:p>
        </p:txBody>
      </p:sp>
      <p:sp>
        <p:nvSpPr>
          <p:cNvPr id="665" name="Google Shape;665;p37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24/30</a:t>
            </a:r>
            <a:endParaRPr/>
          </a:p>
        </p:txBody>
      </p:sp>
      <p:sp>
        <p:nvSpPr>
          <p:cNvPr id="666" name="Google Shape;666;p37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667" name="Google Shape;667;p37"/>
          <p:cNvSpPr/>
          <p:nvPr/>
        </p:nvSpPr>
        <p:spPr>
          <a:xfrm>
            <a:off x="594360" y="1783080"/>
            <a:ext cx="1942185" cy="107899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7"/>
          <p:cNvSpPr/>
          <p:nvPr/>
        </p:nvSpPr>
        <p:spPr>
          <a:xfrm>
            <a:off x="594360" y="1783080"/>
            <a:ext cx="73152" cy="1078992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7"/>
          <p:cNvSpPr txBox="1"/>
          <p:nvPr/>
        </p:nvSpPr>
        <p:spPr>
          <a:xfrm>
            <a:off x="795528" y="192938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Observe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0" name="Google Shape;670;p37"/>
          <p:cNvSpPr txBox="1"/>
          <p:nvPr/>
        </p:nvSpPr>
        <p:spPr>
          <a:xfrm>
            <a:off x="795528" y="2304288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TYPING_UPDATE sai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1" name="Google Shape;671;p37"/>
          <p:cNvSpPr/>
          <p:nvPr/>
        </p:nvSpPr>
        <p:spPr>
          <a:xfrm>
            <a:off x="2737713" y="1783080"/>
            <a:ext cx="1942185" cy="107899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7"/>
          <p:cNvSpPr/>
          <p:nvPr/>
        </p:nvSpPr>
        <p:spPr>
          <a:xfrm>
            <a:off x="2737713" y="1783080"/>
            <a:ext cx="73152" cy="1078992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37"/>
          <p:cNvSpPr txBox="1"/>
          <p:nvPr/>
        </p:nvSpPr>
        <p:spPr>
          <a:xfrm>
            <a:off x="2938881" y="192938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Memory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4" name="Google Shape;674;p37"/>
          <p:cNvSpPr txBox="1"/>
          <p:nvPr/>
        </p:nvSpPr>
        <p:spPr>
          <a:xfrm>
            <a:off x="2938881" y="2304288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char/word/n-gram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75" name="Google Shape;675;p37"/>
          <p:cNvCxnSpPr/>
          <p:nvPr/>
        </p:nvCxnSpPr>
        <p:spPr>
          <a:xfrm>
            <a:off x="2536545" y="23225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76" name="Google Shape;676;p37"/>
          <p:cNvSpPr/>
          <p:nvPr/>
        </p:nvSpPr>
        <p:spPr>
          <a:xfrm>
            <a:off x="4881067" y="1783080"/>
            <a:ext cx="1942185" cy="107899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7" name="Google Shape;677;p37"/>
          <p:cNvSpPr/>
          <p:nvPr/>
        </p:nvSpPr>
        <p:spPr>
          <a:xfrm>
            <a:off x="4881067" y="1783080"/>
            <a:ext cx="73152" cy="1078992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37"/>
          <p:cNvSpPr txBox="1"/>
          <p:nvPr/>
        </p:nvSpPr>
        <p:spPr>
          <a:xfrm>
            <a:off x="5082235" y="192938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Prompt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9" name="Google Shape;679;p37"/>
          <p:cNvSpPr txBox="1"/>
          <p:nvPr/>
        </p:nvSpPr>
        <p:spPr>
          <a:xfrm>
            <a:off x="5082235" y="2304288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OpenClaude gpt-5.5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0" name="Google Shape;680;p37"/>
          <p:cNvCxnSpPr/>
          <p:nvPr/>
        </p:nvCxnSpPr>
        <p:spPr>
          <a:xfrm>
            <a:off x="4679899" y="23225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1" name="Google Shape;681;p37"/>
          <p:cNvSpPr/>
          <p:nvPr/>
        </p:nvSpPr>
        <p:spPr>
          <a:xfrm>
            <a:off x="7024420" y="1783080"/>
            <a:ext cx="1942185" cy="107899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37"/>
          <p:cNvSpPr/>
          <p:nvPr/>
        </p:nvSpPr>
        <p:spPr>
          <a:xfrm>
            <a:off x="7024420" y="1783080"/>
            <a:ext cx="73152" cy="1078992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37"/>
          <p:cNvSpPr txBox="1"/>
          <p:nvPr/>
        </p:nvSpPr>
        <p:spPr>
          <a:xfrm>
            <a:off x="7225588" y="192938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Validate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37"/>
          <p:cNvSpPr txBox="1"/>
          <p:nvPr/>
        </p:nvSpPr>
        <p:spPr>
          <a:xfrm>
            <a:off x="7225588" y="2304288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JSON contract + retry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85" name="Google Shape;685;p37"/>
          <p:cNvCxnSpPr/>
          <p:nvPr/>
        </p:nvCxnSpPr>
        <p:spPr>
          <a:xfrm>
            <a:off x="6823252" y="23225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86" name="Google Shape;686;p37"/>
          <p:cNvSpPr/>
          <p:nvPr/>
        </p:nvSpPr>
        <p:spPr>
          <a:xfrm>
            <a:off x="9167774" y="1783080"/>
            <a:ext cx="1942185" cy="1078992"/>
          </a:xfrm>
          <a:prstGeom prst="rect">
            <a:avLst/>
          </a:prstGeom>
          <a:solidFill>
            <a:srgbClr val="1F273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37"/>
          <p:cNvSpPr/>
          <p:nvPr/>
        </p:nvSpPr>
        <p:spPr>
          <a:xfrm>
            <a:off x="9167774" y="1783080"/>
            <a:ext cx="73152" cy="1078992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37"/>
          <p:cNvSpPr txBox="1"/>
          <p:nvPr/>
        </p:nvSpPr>
        <p:spPr>
          <a:xfrm>
            <a:off x="9368942" y="1929384"/>
            <a:ext cx="1622145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Practice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9" name="Google Shape;689;p37"/>
          <p:cNvSpPr txBox="1"/>
          <p:nvPr/>
        </p:nvSpPr>
        <p:spPr>
          <a:xfrm>
            <a:off x="9368942" y="2304288"/>
            <a:ext cx="1594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05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mission + passages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690" name="Google Shape;690;p37"/>
          <p:cNvCxnSpPr/>
          <p:nvPr/>
        </p:nvCxnSpPr>
        <p:spPr>
          <a:xfrm>
            <a:off x="8966606" y="2322576"/>
            <a:ext cx="201168" cy="0"/>
          </a:xfrm>
          <a:prstGeom prst="straightConnector1">
            <a:avLst/>
          </a:prstGeom>
          <a:noFill/>
          <a:ln cap="flat" cmpd="sng" w="17775">
            <a:solidFill>
              <a:srgbClr val="BCC4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91" name="Google Shape;691;p37"/>
          <p:cNvSpPr/>
          <p:nvPr/>
        </p:nvSpPr>
        <p:spPr>
          <a:xfrm>
            <a:off x="2827017" y="3596285"/>
            <a:ext cx="3063300" cy="11430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7"/>
          <p:cNvSpPr/>
          <p:nvPr/>
        </p:nvSpPr>
        <p:spPr>
          <a:xfrm>
            <a:off x="2827018" y="3596285"/>
            <a:ext cx="73200" cy="1143000"/>
          </a:xfrm>
          <a:prstGeom prst="rect">
            <a:avLst/>
          </a:prstGeom>
          <a:solidFill>
            <a:srgbClr val="F87171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7"/>
          <p:cNvSpPr txBox="1"/>
          <p:nvPr/>
        </p:nvSpPr>
        <p:spPr>
          <a:xfrm>
            <a:off x="3028185" y="3742588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Điểm khác biệt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4" name="Google Shape;694;p37"/>
          <p:cNvSpPr txBox="1"/>
          <p:nvPr/>
        </p:nvSpPr>
        <p:spPr>
          <a:xfrm>
            <a:off x="3028185" y="4117493"/>
            <a:ext cx="27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Lỗi được ghi ngay lúc người chơi bấm sai, kể cả sau đó đã xóa sửa.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5" name="Google Shape;695;p37"/>
          <p:cNvSpPr/>
          <p:nvPr/>
        </p:nvSpPr>
        <p:spPr>
          <a:xfrm>
            <a:off x="6301738" y="3596285"/>
            <a:ext cx="3063300" cy="114300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7"/>
          <p:cNvSpPr/>
          <p:nvPr/>
        </p:nvSpPr>
        <p:spPr>
          <a:xfrm>
            <a:off x="6301738" y="3596285"/>
            <a:ext cx="73200" cy="11430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7"/>
          <p:cNvSpPr txBox="1"/>
          <p:nvPr/>
        </p:nvSpPr>
        <p:spPr>
          <a:xfrm>
            <a:off x="6502905" y="3742588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Dữ liệu volatile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8" name="Google Shape;698;p37"/>
          <p:cNvSpPr txBox="1"/>
          <p:nvPr/>
        </p:nvSpPr>
        <p:spPr>
          <a:xfrm>
            <a:off x="6502905" y="4117493"/>
            <a:ext cx="271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Clear theo user/room để không lưu lỗi riêng tư lâu hơn cần thiết.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38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38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 output</a:t>
            </a:r>
            <a:endParaRPr/>
          </a:p>
        </p:txBody>
      </p:sp>
      <p:sp>
        <p:nvSpPr>
          <p:cNvPr id="706" name="Google Shape;706;p38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Sáng tạo + UI/UX</a:t>
            </a:r>
            <a:endParaRPr/>
          </a:p>
        </p:txBody>
      </p:sp>
      <p:sp>
        <p:nvSpPr>
          <p:cNvPr id="707" name="Google Shape;707;p38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25/30</a:t>
            </a:r>
            <a:endParaRPr/>
          </a:p>
        </p:txBody>
      </p:sp>
      <p:sp>
        <p:nvSpPr>
          <p:cNvPr id="708" name="Google Shape;708;p38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709" name="Google Shape;709;p38"/>
          <p:cNvSpPr/>
          <p:nvPr/>
        </p:nvSpPr>
        <p:spPr>
          <a:xfrm>
            <a:off x="731520" y="11731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0" name="Google Shape;710;p38"/>
          <p:cNvSpPr/>
          <p:nvPr/>
        </p:nvSpPr>
        <p:spPr>
          <a:xfrm>
            <a:off x="731520" y="1173123"/>
            <a:ext cx="73200" cy="1326000"/>
          </a:xfrm>
          <a:prstGeom prst="rect">
            <a:avLst/>
          </a:prstGeom>
          <a:solidFill>
            <a:srgbClr val="A855F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1" name="Google Shape;711;p38"/>
          <p:cNvSpPr txBox="1"/>
          <p:nvPr/>
        </p:nvSpPr>
        <p:spPr>
          <a:xfrm>
            <a:off x="932688" y="128930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855F7"/>
                </a:solidFill>
                <a:latin typeface="Inter"/>
                <a:ea typeface="Inter"/>
                <a:cs typeface="Inter"/>
                <a:sym typeface="Inter"/>
              </a:rPr>
              <a:t>Problem-key story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2" name="Google Shape;712;p38"/>
          <p:cNvSpPr txBox="1"/>
          <p:nvPr/>
        </p:nvSpPr>
        <p:spPr>
          <a:xfrm>
            <a:off x="932688" y="1694330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AI chọn weak keys/ngram thật rồi sinh story passage có thể chơi ngay.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3" name="Google Shape;713;p38"/>
          <p:cNvSpPr/>
          <p:nvPr/>
        </p:nvSpPr>
        <p:spPr>
          <a:xfrm>
            <a:off x="4251960" y="11731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4" name="Google Shape;714;p38"/>
          <p:cNvSpPr/>
          <p:nvPr/>
        </p:nvSpPr>
        <p:spPr>
          <a:xfrm>
            <a:off x="4251960" y="1173123"/>
            <a:ext cx="73200" cy="132600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5" name="Google Shape;715;p38"/>
          <p:cNvSpPr txBox="1"/>
          <p:nvPr/>
        </p:nvSpPr>
        <p:spPr>
          <a:xfrm>
            <a:off x="4453128" y="128930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Heatmap &amp; fingerprint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6" name="Google Shape;716;p38"/>
          <p:cNvSpPr txBox="1"/>
          <p:nvPr/>
        </p:nvSpPr>
        <p:spPr>
          <a:xfrm>
            <a:off x="4453128" y="1694330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QWERTY weak-key heatmap, typing fingerprint, personalization score.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7" name="Google Shape;717;p38"/>
          <p:cNvSpPr/>
          <p:nvPr/>
        </p:nvSpPr>
        <p:spPr>
          <a:xfrm>
            <a:off x="7772400" y="11731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8" name="Google Shape;718;p38"/>
          <p:cNvSpPr/>
          <p:nvPr/>
        </p:nvSpPr>
        <p:spPr>
          <a:xfrm>
            <a:off x="7772400" y="1173123"/>
            <a:ext cx="73200" cy="132600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9" name="Google Shape;719;p38"/>
          <p:cNvSpPr txBox="1"/>
          <p:nvPr/>
        </p:nvSpPr>
        <p:spPr>
          <a:xfrm>
            <a:off x="7973568" y="1289304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Training pack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0" name="Google Shape;720;p38"/>
          <p:cNvSpPr txBox="1"/>
          <p:nvPr/>
        </p:nvSpPr>
        <p:spPr>
          <a:xfrm>
            <a:off x="7973568" y="1694330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10-12 passage mới, novelty/coverage/confidence audit.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1" name="Google Shape;721;p38"/>
          <p:cNvSpPr/>
          <p:nvPr/>
        </p:nvSpPr>
        <p:spPr>
          <a:xfrm>
            <a:off x="731520" y="30019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2" name="Google Shape;722;p38"/>
          <p:cNvSpPr/>
          <p:nvPr/>
        </p:nvSpPr>
        <p:spPr>
          <a:xfrm>
            <a:off x="731520" y="3001923"/>
            <a:ext cx="73200" cy="13260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3" name="Google Shape;723;p38"/>
          <p:cNvSpPr txBox="1"/>
          <p:nvPr/>
        </p:nvSpPr>
        <p:spPr>
          <a:xfrm>
            <a:off x="932688" y="3148227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923C"/>
                </a:solidFill>
                <a:latin typeface="Inter"/>
                <a:ea typeface="Inter"/>
                <a:cs typeface="Inter"/>
                <a:sym typeface="Inter"/>
              </a:rPr>
              <a:t>Mission chơi ngay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4" name="Google Shape;724;p38"/>
          <p:cNvSpPr txBox="1"/>
          <p:nvPr/>
        </p:nvSpPr>
        <p:spPr>
          <a:xfrm>
            <a:off x="932688" y="3523131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AI practice missions có objective, timer, target, badge và passage riêng.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5" name="Google Shape;725;p38"/>
          <p:cNvSpPr/>
          <p:nvPr/>
        </p:nvSpPr>
        <p:spPr>
          <a:xfrm>
            <a:off x="4251960" y="30019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6" name="Google Shape;726;p38"/>
          <p:cNvSpPr/>
          <p:nvPr/>
        </p:nvSpPr>
        <p:spPr>
          <a:xfrm>
            <a:off x="4251960" y="3001923"/>
            <a:ext cx="73200" cy="132600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7" name="Google Shape;727;p38"/>
          <p:cNvSpPr txBox="1"/>
          <p:nvPr/>
        </p:nvSpPr>
        <p:spPr>
          <a:xfrm>
            <a:off x="4453128" y="3148227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Drill cá nhân hóa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8" name="Google Shape;728;p38"/>
          <p:cNvSpPr txBox="1"/>
          <p:nvPr/>
        </p:nvSpPr>
        <p:spPr>
          <a:xfrm>
            <a:off x="4453128" y="3523131"/>
            <a:ext cx="2853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Weak-key deck, adaptive n-gram drills, spaced repetition, mastery checkpoints.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9" name="Google Shape;729;p38"/>
          <p:cNvSpPr/>
          <p:nvPr/>
        </p:nvSpPr>
        <p:spPr>
          <a:xfrm>
            <a:off x="7772400" y="3001923"/>
            <a:ext cx="3200400" cy="13260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0" name="Google Shape;730;p38"/>
          <p:cNvSpPr/>
          <p:nvPr/>
        </p:nvSpPr>
        <p:spPr>
          <a:xfrm>
            <a:off x="7772400" y="3001923"/>
            <a:ext cx="73200" cy="132600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1" name="Google Shape;731;p38"/>
          <p:cNvSpPr txBox="1"/>
          <p:nvPr/>
        </p:nvSpPr>
        <p:spPr>
          <a:xfrm>
            <a:off x="7973568" y="3148227"/>
            <a:ext cx="2880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Kể chuyện khi demo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2" name="Google Shape;732;p38"/>
          <p:cNvSpPr txBox="1"/>
          <p:nvPr/>
        </p:nvSpPr>
        <p:spPr>
          <a:xfrm>
            <a:off x="7973568" y="3523131"/>
            <a:ext cx="2853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“AI không thay người chơi; AI biến lỗi của họ thành giáo án kế tiếp.”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9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39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39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AI reliability</a:t>
            </a:r>
            <a:endParaRPr/>
          </a:p>
        </p:txBody>
      </p:sp>
      <p:sp>
        <p:nvSpPr>
          <p:cNvPr id="740" name="Google Shape;740;p39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Sáng tạo + Thread</a:t>
            </a:r>
            <a:endParaRPr/>
          </a:p>
        </p:txBody>
      </p:sp>
      <p:sp>
        <p:nvSpPr>
          <p:cNvPr id="741" name="Google Shape;741;p39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26/30</a:t>
            </a:r>
            <a:endParaRPr/>
          </a:p>
        </p:txBody>
      </p:sp>
      <p:sp>
        <p:nvSpPr>
          <p:cNvPr id="742" name="Google Shape;742;p39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743" name="Google Shape;743;p39"/>
          <p:cNvSpPr/>
          <p:nvPr/>
        </p:nvSpPr>
        <p:spPr>
          <a:xfrm>
            <a:off x="731520" y="1234440"/>
            <a:ext cx="306324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731520" y="1234440"/>
            <a:ext cx="73152" cy="1325880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39"/>
          <p:cNvSpPr txBox="1"/>
          <p:nvPr/>
        </p:nvSpPr>
        <p:spPr>
          <a:xfrm>
            <a:off x="93268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ACC15"/>
                </a:solidFill>
                <a:latin typeface="Inter"/>
                <a:ea typeface="Inter"/>
                <a:cs typeface="Inter"/>
                <a:sym typeface="Inter"/>
              </a:rPr>
              <a:t>Validate/retry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6" name="Google Shape;746;p39"/>
          <p:cNvSpPr txBox="1"/>
          <p:nvPr/>
        </p:nvSpPr>
        <p:spPr>
          <a:xfrm>
            <a:off x="932688" y="1755648"/>
            <a:ext cx="271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Response phải đúng shape; retry tối đa 5 lần trước khi fallback.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7" name="Google Shape;747;p39"/>
          <p:cNvSpPr/>
          <p:nvPr/>
        </p:nvSpPr>
        <p:spPr>
          <a:xfrm>
            <a:off x="4069080" y="1234440"/>
            <a:ext cx="306324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39"/>
          <p:cNvSpPr/>
          <p:nvPr/>
        </p:nvSpPr>
        <p:spPr>
          <a:xfrm>
            <a:off x="4069080" y="1234440"/>
            <a:ext cx="73152" cy="13258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9"/>
          <p:cNvSpPr txBox="1"/>
          <p:nvPr/>
        </p:nvSpPr>
        <p:spPr>
          <a:xfrm>
            <a:off x="427024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Fallback bank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0" name="Google Shape;750;p39"/>
          <p:cNvSpPr txBox="1"/>
          <p:nvPr/>
        </p:nvSpPr>
        <p:spPr>
          <a:xfrm>
            <a:off x="4270248" y="1755648"/>
            <a:ext cx="2715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100 đoạn luyện nội bộ để user vẫn có bài mới nếu AI/network lỗi.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1" name="Google Shape;751;p39"/>
          <p:cNvSpPr/>
          <p:nvPr/>
        </p:nvSpPr>
        <p:spPr>
          <a:xfrm>
            <a:off x="7406640" y="1234440"/>
            <a:ext cx="3337560" cy="132588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39"/>
          <p:cNvSpPr/>
          <p:nvPr/>
        </p:nvSpPr>
        <p:spPr>
          <a:xfrm>
            <a:off x="7406640" y="1234440"/>
            <a:ext cx="73152" cy="132588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39"/>
          <p:cNvSpPr txBox="1"/>
          <p:nvPr/>
        </p:nvSpPr>
        <p:spPr>
          <a:xfrm>
            <a:off x="7607808" y="1380744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Heartbeat grace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4" name="Google Shape;754;p39"/>
          <p:cNvSpPr txBox="1"/>
          <p:nvPr/>
        </p:nvSpPr>
        <p:spPr>
          <a:xfrm>
            <a:off x="7607808" y="1755648"/>
            <a:ext cx="2990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3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Request AI dài không làm heartbeat đá client khỏi phòng.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5" name="Google Shape;755;p39"/>
          <p:cNvSpPr/>
          <p:nvPr/>
        </p:nvSpPr>
        <p:spPr>
          <a:xfrm>
            <a:off x="914400" y="3246120"/>
            <a:ext cx="4343400" cy="12344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39"/>
          <p:cNvSpPr/>
          <p:nvPr/>
        </p:nvSpPr>
        <p:spPr>
          <a:xfrm>
            <a:off x="914400" y="3246120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39"/>
          <p:cNvSpPr txBox="1"/>
          <p:nvPr/>
        </p:nvSpPr>
        <p:spPr>
          <a:xfrm>
            <a:off x="1115568" y="3392424"/>
            <a:ext cx="4023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Bằng chứng đang chạy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8" name="Google Shape;758;p39"/>
          <p:cNvSpPr txBox="1"/>
          <p:nvPr/>
        </p:nvSpPr>
        <p:spPr>
          <a:xfrm>
            <a:off x="1115568" y="3767328"/>
            <a:ext cx="39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edge_matrix_test.py trên VPS: ai_coach_auth_and_shape PASS; tổng edge matrix 10/10 PASS.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0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0"/>
          <p:cNvSpPr/>
          <p:nvPr/>
        </p:nvSpPr>
        <p:spPr>
          <a:xfrm>
            <a:off x="0" y="100584"/>
            <a:ext cx="82296" cy="6757416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0"/>
          <p:cNvSpPr txBox="1"/>
          <p:nvPr/>
        </p:nvSpPr>
        <p:spPr>
          <a:xfrm>
            <a:off x="594360" y="384048"/>
            <a:ext cx="8138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5F7FA"/>
                </a:solidFill>
                <a:latin typeface="Arial"/>
                <a:ea typeface="Arial"/>
                <a:cs typeface="Arial"/>
                <a:sym typeface="Arial"/>
              </a:rPr>
              <a:t>Hiệu quả hợp tác nhóm</a:t>
            </a:r>
            <a:endParaRPr/>
          </a:p>
        </p:txBody>
      </p:sp>
      <p:sp>
        <p:nvSpPr>
          <p:cNvPr id="766" name="Google Shape;766;p40"/>
          <p:cNvSpPr/>
          <p:nvPr/>
        </p:nvSpPr>
        <p:spPr>
          <a:xfrm>
            <a:off x="8732520" y="411480"/>
            <a:ext cx="2816352" cy="411480"/>
          </a:xfrm>
          <a:prstGeom prst="roundRect">
            <a:avLst>
              <a:gd fmla="val 16667" name="adj"/>
            </a:avLst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A0E14"/>
                </a:solidFill>
                <a:latin typeface="Arial"/>
                <a:ea typeface="Arial"/>
                <a:cs typeface="Arial"/>
                <a:sym typeface="Arial"/>
              </a:rPr>
              <a:t>Teamwork 20 điểm</a:t>
            </a:r>
            <a:endParaRPr/>
          </a:p>
        </p:txBody>
      </p:sp>
      <p:sp>
        <p:nvSpPr>
          <p:cNvPr id="767" name="Google Shape;767;p40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29/30</a:t>
            </a:r>
            <a:endParaRPr/>
          </a:p>
        </p:txBody>
      </p:sp>
      <p:sp>
        <p:nvSpPr>
          <p:cNvPr id="768" name="Google Shape;768;p40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769" name="Google Shape;769;p40"/>
          <p:cNvSpPr/>
          <p:nvPr/>
        </p:nvSpPr>
        <p:spPr>
          <a:xfrm>
            <a:off x="731520" y="1234440"/>
            <a:ext cx="3063240" cy="14630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0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2DD4B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0"/>
          <p:cNvSpPr txBox="1"/>
          <p:nvPr/>
        </p:nvSpPr>
        <p:spPr>
          <a:xfrm>
            <a:off x="93268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Client/UI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2" name="Google Shape;772;p40"/>
          <p:cNvSpPr txBox="1"/>
          <p:nvPr/>
        </p:nvSpPr>
        <p:spPr>
          <a:xfrm>
            <a:off x="932688" y="1755648"/>
            <a:ext cx="27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Login preset, lobby, custom text, room warm-up, race track, Result + AI panel.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3" name="Google Shape;773;p40"/>
          <p:cNvSpPr/>
          <p:nvPr/>
        </p:nvSpPr>
        <p:spPr>
          <a:xfrm>
            <a:off x="4069080" y="1234440"/>
            <a:ext cx="3063240" cy="14630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40"/>
          <p:cNvSpPr/>
          <p:nvPr/>
        </p:nvSpPr>
        <p:spPr>
          <a:xfrm>
            <a:off x="4069080" y="1234440"/>
            <a:ext cx="73152" cy="1463040"/>
          </a:xfrm>
          <a:prstGeom prst="rect">
            <a:avLst/>
          </a:prstGeom>
          <a:solidFill>
            <a:srgbClr val="60A5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0"/>
          <p:cNvSpPr txBox="1"/>
          <p:nvPr/>
        </p:nvSpPr>
        <p:spPr>
          <a:xfrm>
            <a:off x="4270248" y="1380744"/>
            <a:ext cx="274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0A5FA"/>
                </a:solidFill>
                <a:latin typeface="Inter"/>
                <a:ea typeface="Inter"/>
                <a:cs typeface="Inter"/>
                <a:sym typeface="Inter"/>
              </a:rPr>
              <a:t>Server/protocol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6" name="Google Shape;776;p40"/>
          <p:cNvSpPr txBox="1"/>
          <p:nvPr/>
        </p:nvSpPr>
        <p:spPr>
          <a:xfrm>
            <a:off x="4270248" y="1755648"/>
            <a:ext cx="2715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TCP protocol, dispatcher, lifecycle room/race, heartbeat, mistake memory.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7" name="Google Shape;777;p40"/>
          <p:cNvSpPr/>
          <p:nvPr/>
        </p:nvSpPr>
        <p:spPr>
          <a:xfrm>
            <a:off x="7406640" y="1234440"/>
            <a:ext cx="3337560" cy="1463040"/>
          </a:xfrm>
          <a:prstGeom prst="rect">
            <a:avLst/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40"/>
          <p:cNvSpPr/>
          <p:nvPr/>
        </p:nvSpPr>
        <p:spPr>
          <a:xfrm>
            <a:off x="7406640" y="1234440"/>
            <a:ext cx="73152" cy="146304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40"/>
          <p:cNvSpPr txBox="1"/>
          <p:nvPr/>
        </p:nvSpPr>
        <p:spPr>
          <a:xfrm>
            <a:off x="7607808" y="1380744"/>
            <a:ext cx="3017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DB/deploy/test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0" name="Google Shape;780;p40"/>
          <p:cNvSpPr txBox="1"/>
          <p:nvPr/>
        </p:nvSpPr>
        <p:spPr>
          <a:xfrm>
            <a:off x="7607808" y="1755648"/>
            <a:ext cx="2990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200" u="none" cap="none" strike="noStrike">
                <a:solidFill>
                  <a:srgbClr val="F5F7FA"/>
                </a:solidFill>
                <a:latin typeface="Inter"/>
                <a:ea typeface="Inter"/>
                <a:cs typeface="Inter"/>
                <a:sym typeface="Inter"/>
              </a:rPr>
              <a:t>SQL/Mongo repositories, VPS, crypto test, load balancer, stress/concurrency.</a:t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41"/>
          <p:cNvSpPr/>
          <p:nvPr/>
        </p:nvSpPr>
        <p:spPr>
          <a:xfrm>
            <a:off x="0" y="0"/>
            <a:ext cx="12192000" cy="100584"/>
          </a:xfrm>
          <a:prstGeom prst="rect">
            <a:avLst/>
          </a:prstGeom>
          <a:solidFill>
            <a:srgbClr val="FACC1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41"/>
          <p:cNvSpPr/>
          <p:nvPr/>
        </p:nvSpPr>
        <p:spPr>
          <a:xfrm>
            <a:off x="0" y="100584"/>
            <a:ext cx="82200" cy="6757500"/>
          </a:xfrm>
          <a:prstGeom prst="rect">
            <a:avLst/>
          </a:prstGeom>
          <a:solidFill>
            <a:srgbClr val="23293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1"/>
          <p:cNvSpPr txBox="1"/>
          <p:nvPr/>
        </p:nvSpPr>
        <p:spPr>
          <a:xfrm>
            <a:off x="10744200" y="635508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30/30</a:t>
            </a:r>
            <a:endParaRPr/>
          </a:p>
        </p:txBody>
      </p:sp>
      <p:sp>
        <p:nvSpPr>
          <p:cNvPr id="788" name="Google Shape;788;p41"/>
          <p:cNvSpPr txBox="1"/>
          <p:nvPr/>
        </p:nvSpPr>
        <p:spPr>
          <a:xfrm>
            <a:off x="594360" y="635508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BCC4D0"/>
                </a:solidFill>
                <a:latin typeface="Arial"/>
                <a:ea typeface="Arial"/>
                <a:cs typeface="Arial"/>
                <a:sym typeface="Arial"/>
              </a:rPr>
              <a:t>TypeRacer Network | Báo cáo cuối kì</a:t>
            </a:r>
            <a:endParaRPr/>
          </a:p>
        </p:txBody>
      </p:sp>
      <p:sp>
        <p:nvSpPr>
          <p:cNvPr id="789" name="Google Shape;789;p41"/>
          <p:cNvSpPr/>
          <p:nvPr/>
        </p:nvSpPr>
        <p:spPr>
          <a:xfrm>
            <a:off x="4861558" y="2811775"/>
            <a:ext cx="2469000" cy="1234500"/>
          </a:xfrm>
          <a:prstGeom prst="roundRect">
            <a:avLst>
              <a:gd fmla="val 16667" name="adj"/>
            </a:avLst>
          </a:prstGeom>
          <a:solidFill>
            <a:srgbClr val="161B24"/>
          </a:solidFill>
          <a:ln cap="flat" cmpd="sng" w="12700">
            <a:solidFill>
              <a:srgbClr val="313C4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1"/>
          <p:cNvSpPr txBox="1"/>
          <p:nvPr/>
        </p:nvSpPr>
        <p:spPr>
          <a:xfrm>
            <a:off x="5021538" y="2948704"/>
            <a:ext cx="2148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ACC15"/>
                </a:solidFill>
              </a:rPr>
              <a:t>Thanks!</a:t>
            </a:r>
            <a:endParaRPr sz="3100"/>
          </a:p>
        </p:txBody>
      </p:sp>
      <p:sp>
        <p:nvSpPr>
          <p:cNvPr id="791" name="Google Shape;791;p41"/>
          <p:cNvSpPr txBox="1"/>
          <p:nvPr/>
        </p:nvSpPr>
        <p:spPr>
          <a:xfrm>
            <a:off x="5035338" y="3548765"/>
            <a:ext cx="21213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→ Demo</a:t>
            </a:r>
            <a:endParaRPr/>
          </a:p>
        </p:txBody>
      </p:sp>
      <p:sp>
        <p:nvSpPr>
          <p:cNvPr id="792" name="Google Shape;792;p41"/>
          <p:cNvSpPr txBox="1"/>
          <p:nvPr/>
        </p:nvSpPr>
        <p:spPr>
          <a:xfrm>
            <a:off x="571550" y="4558970"/>
            <a:ext cx="11049000" cy="12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Đồ án Lập trình mạng (NT106)</a:t>
            </a:r>
            <a:endParaRPr b="0" i="0" sz="18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Vũ Hoàng Long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Nguyễn Tuấn Hùng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Lê Tuấn Hùng</a:t>
            </a:r>
            <a:endParaRPr b="0" i="0" sz="1300" u="none" cap="none" strike="noStrike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